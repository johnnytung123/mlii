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74" r:id="rId2"/>
    <p:sldId id="270" r:id="rId3"/>
    <p:sldId id="281" r:id="rId4"/>
    <p:sldId id="282" r:id="rId5"/>
    <p:sldId id="260" r:id="rId6"/>
    <p:sldId id="280" r:id="rId7"/>
    <p:sldId id="271" r:id="rId8"/>
    <p:sldId id="263" r:id="rId9"/>
    <p:sldId id="273" r:id="rId10"/>
    <p:sldId id="264"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32"/>
    <p:restoredTop sz="94547"/>
  </p:normalViewPr>
  <p:slideViewPr>
    <p:cSldViewPr snapToGrid="0" snapToObjects="1">
      <p:cViewPr varScale="1">
        <p:scale>
          <a:sx n="147" d="100"/>
          <a:sy n="147" d="100"/>
        </p:scale>
        <p:origin x="216"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52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JohnnyTung123/MLI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49" name="Text 47"/>
          <p:cNvSpPr/>
          <p:nvPr/>
        </p:nvSpPr>
        <p:spPr>
          <a:xfrm>
            <a:off x="502920" y="685800"/>
            <a:ext cx="5760720" cy="68580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XGBoost</a:t>
            </a:r>
            <a:endParaRPr lang="en-US" sz="4400" dirty="0"/>
          </a:p>
        </p:txBody>
      </p:sp>
      <p:sp>
        <p:nvSpPr>
          <p:cNvPr id="50" name="Text 48"/>
          <p:cNvSpPr/>
          <p:nvPr/>
        </p:nvSpPr>
        <p:spPr>
          <a:xfrm>
            <a:off x="502920" y="1353312"/>
            <a:ext cx="5760720" cy="1371600"/>
          </a:xfrm>
          <a:prstGeom prst="rect">
            <a:avLst/>
          </a:prstGeom>
          <a:noFill/>
          <a:ln/>
        </p:spPr>
        <p:txBody>
          <a:bodyPr wrap="square" rtlCol="0" anchor="ctr"/>
          <a:lstStyle/>
          <a:p>
            <a:pPr marL="0" indent="0" algn="l">
              <a:buNone/>
            </a:pPr>
            <a:r>
              <a:rPr lang="en-US" sz="3800" dirty="0">
                <a:solidFill>
                  <a:srgbClr val="10B981"/>
                </a:solidFill>
                <a:latin typeface="Calibri" pitchFamily="34" charset="0"/>
                <a:ea typeface="Calibri" pitchFamily="34" charset="-122"/>
                <a:cs typeface="Calibri" pitchFamily="34" charset="-120"/>
              </a:rPr>
              <a:t>Long-Short</a:t>
            </a:r>
            <a:endParaRPr lang="en-US" sz="3800" dirty="0"/>
          </a:p>
          <a:p>
            <a:pPr marL="0" indent="0" algn="l">
              <a:buNone/>
            </a:pPr>
            <a:r>
              <a:rPr lang="en-US" sz="3800" dirty="0">
                <a:solidFill>
                  <a:srgbClr val="10B981"/>
                </a:solidFill>
                <a:latin typeface="Calibri" pitchFamily="34" charset="0"/>
                <a:ea typeface="Calibri" pitchFamily="34" charset="-122"/>
                <a:cs typeface="Calibri" pitchFamily="34" charset="-120"/>
              </a:rPr>
              <a:t>Equity Strategy</a:t>
            </a:r>
            <a:endParaRPr lang="en-US" sz="3800" dirty="0"/>
          </a:p>
        </p:txBody>
      </p:sp>
      <p:sp>
        <p:nvSpPr>
          <p:cNvPr id="51" name="Shape 49"/>
          <p:cNvSpPr/>
          <p:nvPr/>
        </p:nvSpPr>
        <p:spPr>
          <a:xfrm>
            <a:off x="502920" y="2852928"/>
            <a:ext cx="5303520" cy="0"/>
          </a:xfrm>
          <a:prstGeom prst="line">
            <a:avLst/>
          </a:prstGeom>
          <a:noFill/>
          <a:ln w="10160">
            <a:solidFill>
              <a:srgbClr val="334155"/>
            </a:solidFill>
            <a:prstDash val="solid"/>
          </a:ln>
        </p:spPr>
        <p:txBody>
          <a:bodyPr/>
          <a:lstStyle/>
          <a:p>
            <a:endParaRPr lang="en-US"/>
          </a:p>
        </p:txBody>
      </p:sp>
      <p:sp>
        <p:nvSpPr>
          <p:cNvPr id="52" name="Text 50"/>
          <p:cNvSpPr/>
          <p:nvPr/>
        </p:nvSpPr>
        <p:spPr>
          <a:xfrm>
            <a:off x="502920" y="2971800"/>
            <a:ext cx="5760720" cy="274320"/>
          </a:xfrm>
          <a:prstGeom prst="rect">
            <a:avLst/>
          </a:prstGeom>
          <a:noFill/>
          <a:ln/>
        </p:spPr>
        <p:txBody>
          <a:bodyPr wrap="square" rtlCol="0" anchor="ctr"/>
          <a:lstStyle/>
          <a:p>
            <a:r>
              <a:rPr lang="en-US" sz="1200" dirty="0">
                <a:solidFill>
                  <a:srgbClr val="94A3B8"/>
                </a:solidFill>
                <a:latin typeface="Calibri" pitchFamily="34" charset="0"/>
                <a:ea typeface="Calibri" pitchFamily="34" charset="-122"/>
                <a:cs typeface="Calibri" pitchFamily="34" charset="-120"/>
              </a:rPr>
              <a:t>ML-Powered Monthly Cross-Sectional Factor Strategy</a:t>
            </a:r>
            <a:endParaRPr lang="en-US" sz="1200" dirty="0"/>
          </a:p>
        </p:txBody>
      </p:sp>
      <p:sp>
        <p:nvSpPr>
          <p:cNvPr id="53" name="Shape 51"/>
          <p:cNvSpPr/>
          <p:nvPr/>
        </p:nvSpPr>
        <p:spPr>
          <a:xfrm>
            <a:off x="502920" y="3364992"/>
            <a:ext cx="1169518" cy="256032"/>
          </a:xfrm>
          <a:prstGeom prst="roundRect">
            <a:avLst>
              <a:gd name="adj" fmla="val 21429"/>
            </a:avLst>
          </a:prstGeom>
          <a:solidFill>
            <a:srgbClr val="1E3A2F"/>
          </a:solidFill>
          <a:ln w="6350">
            <a:solidFill>
              <a:srgbClr val="059669"/>
            </a:solidFill>
            <a:prstDash val="solid"/>
          </a:ln>
        </p:spPr>
        <p:txBody>
          <a:bodyPr/>
          <a:lstStyle/>
          <a:p>
            <a:endParaRPr lang="en-US"/>
          </a:p>
        </p:txBody>
      </p:sp>
      <p:sp>
        <p:nvSpPr>
          <p:cNvPr id="54" name="Text 52"/>
          <p:cNvSpPr/>
          <p:nvPr/>
        </p:nvSpPr>
        <p:spPr>
          <a:xfrm>
            <a:off x="502920" y="3364992"/>
            <a:ext cx="1169518" cy="256032"/>
          </a:xfrm>
          <a:prstGeom prst="rect">
            <a:avLst/>
          </a:prstGeom>
          <a:noFill/>
          <a:ln/>
        </p:spPr>
        <p:txBody>
          <a:bodyPr wrap="square" lIns="0" tIns="0" rIns="0" bIns="0" rtlCol="0" anchor="ctr"/>
          <a:lstStyle/>
          <a:p>
            <a:pPr marL="0" indent="0" algn="ctr">
              <a:buNone/>
            </a:pPr>
            <a:r>
              <a:rPr lang="en-US" sz="850" dirty="0">
                <a:solidFill>
                  <a:srgbClr val="10B981"/>
                </a:solidFill>
              </a:rPr>
              <a:t>US Equities</a:t>
            </a:r>
            <a:endParaRPr lang="en-US" sz="850" dirty="0"/>
          </a:p>
        </p:txBody>
      </p:sp>
      <p:sp>
        <p:nvSpPr>
          <p:cNvPr id="55" name="Shape 53"/>
          <p:cNvSpPr/>
          <p:nvPr/>
        </p:nvSpPr>
        <p:spPr>
          <a:xfrm>
            <a:off x="1800454" y="3364992"/>
            <a:ext cx="1169518" cy="256032"/>
          </a:xfrm>
          <a:prstGeom prst="roundRect">
            <a:avLst>
              <a:gd name="adj" fmla="val 21429"/>
            </a:avLst>
          </a:prstGeom>
          <a:solidFill>
            <a:srgbClr val="1E3A2F"/>
          </a:solidFill>
          <a:ln w="6350">
            <a:solidFill>
              <a:srgbClr val="059669"/>
            </a:solidFill>
            <a:prstDash val="solid"/>
          </a:ln>
        </p:spPr>
        <p:txBody>
          <a:bodyPr/>
          <a:lstStyle/>
          <a:p>
            <a:endParaRPr lang="en-US" dirty="0"/>
          </a:p>
        </p:txBody>
      </p:sp>
      <p:sp>
        <p:nvSpPr>
          <p:cNvPr id="56" name="Text 54"/>
          <p:cNvSpPr/>
          <p:nvPr/>
        </p:nvSpPr>
        <p:spPr>
          <a:xfrm>
            <a:off x="1800454" y="3364992"/>
            <a:ext cx="1169518" cy="256032"/>
          </a:xfrm>
          <a:prstGeom prst="rect">
            <a:avLst/>
          </a:prstGeom>
          <a:noFill/>
          <a:ln/>
        </p:spPr>
        <p:txBody>
          <a:bodyPr wrap="square" lIns="0" tIns="0" rIns="0" bIns="0" rtlCol="0" anchor="ctr"/>
          <a:lstStyle/>
          <a:p>
            <a:pPr marL="0" indent="0" algn="ctr">
              <a:buNone/>
            </a:pPr>
            <a:r>
              <a:rPr lang="en-US" sz="850" dirty="0">
                <a:solidFill>
                  <a:srgbClr val="10B981"/>
                </a:solidFill>
              </a:rPr>
              <a:t>0.7 Net Sharpe</a:t>
            </a:r>
            <a:endParaRPr lang="en-US" sz="850" dirty="0"/>
          </a:p>
        </p:txBody>
      </p:sp>
      <p:sp>
        <p:nvSpPr>
          <p:cNvPr id="57" name="Shape 55"/>
          <p:cNvSpPr/>
          <p:nvPr/>
        </p:nvSpPr>
        <p:spPr>
          <a:xfrm>
            <a:off x="3097987" y="3364992"/>
            <a:ext cx="1413662" cy="256032"/>
          </a:xfrm>
          <a:prstGeom prst="roundRect">
            <a:avLst>
              <a:gd name="adj" fmla="val 21429"/>
            </a:avLst>
          </a:prstGeom>
          <a:solidFill>
            <a:srgbClr val="1E3A2F"/>
          </a:solidFill>
          <a:ln w="6350">
            <a:solidFill>
              <a:srgbClr val="059669"/>
            </a:solidFill>
            <a:prstDash val="solid"/>
          </a:ln>
        </p:spPr>
        <p:txBody>
          <a:bodyPr/>
          <a:lstStyle/>
          <a:p>
            <a:endParaRPr lang="en-US"/>
          </a:p>
        </p:txBody>
      </p:sp>
      <p:sp>
        <p:nvSpPr>
          <p:cNvPr id="58" name="Text 56"/>
          <p:cNvSpPr/>
          <p:nvPr/>
        </p:nvSpPr>
        <p:spPr>
          <a:xfrm>
            <a:off x="3097987" y="3364992"/>
            <a:ext cx="1413662" cy="256032"/>
          </a:xfrm>
          <a:prstGeom prst="rect">
            <a:avLst/>
          </a:prstGeom>
          <a:noFill/>
          <a:ln/>
        </p:spPr>
        <p:txBody>
          <a:bodyPr wrap="square" lIns="0" tIns="0" rIns="0" bIns="0" rtlCol="0" anchor="ctr"/>
          <a:lstStyle/>
          <a:p>
            <a:pPr marL="0" indent="0" algn="ctr">
              <a:buNone/>
            </a:pPr>
            <a:r>
              <a:rPr lang="en-US" sz="850" dirty="0">
                <a:solidFill>
                  <a:srgbClr val="10B981"/>
                </a:solidFill>
              </a:rPr>
              <a:t>1986 – Present</a:t>
            </a:r>
            <a:endParaRPr lang="en-US" sz="850" dirty="0"/>
          </a:p>
        </p:txBody>
      </p:sp>
      <p:sp>
        <p:nvSpPr>
          <p:cNvPr id="59" name="Shape 57"/>
          <p:cNvSpPr/>
          <p:nvPr/>
        </p:nvSpPr>
        <p:spPr>
          <a:xfrm>
            <a:off x="4639666" y="3364992"/>
            <a:ext cx="1739189" cy="256032"/>
          </a:xfrm>
          <a:prstGeom prst="roundRect">
            <a:avLst>
              <a:gd name="adj" fmla="val 21429"/>
            </a:avLst>
          </a:prstGeom>
          <a:solidFill>
            <a:srgbClr val="1E3A2F"/>
          </a:solidFill>
          <a:ln w="6350">
            <a:solidFill>
              <a:srgbClr val="059669"/>
            </a:solidFill>
            <a:prstDash val="solid"/>
          </a:ln>
        </p:spPr>
        <p:txBody>
          <a:bodyPr/>
          <a:lstStyle/>
          <a:p>
            <a:endParaRPr lang="en-US"/>
          </a:p>
        </p:txBody>
      </p:sp>
      <p:sp>
        <p:nvSpPr>
          <p:cNvPr id="60" name="Text 58"/>
          <p:cNvSpPr/>
          <p:nvPr/>
        </p:nvSpPr>
        <p:spPr>
          <a:xfrm>
            <a:off x="4639666" y="3364992"/>
            <a:ext cx="1739189" cy="256032"/>
          </a:xfrm>
          <a:prstGeom prst="rect">
            <a:avLst/>
          </a:prstGeom>
          <a:noFill/>
          <a:ln/>
        </p:spPr>
        <p:txBody>
          <a:bodyPr wrap="square" lIns="0" tIns="0" rIns="0" bIns="0" rtlCol="0" anchor="ctr"/>
          <a:lstStyle/>
          <a:p>
            <a:pPr marL="0" indent="0" algn="ctr">
              <a:buNone/>
            </a:pPr>
            <a:r>
              <a:rPr lang="en-US" sz="850" dirty="0">
                <a:solidFill>
                  <a:srgbClr val="10B981"/>
                </a:solidFill>
              </a:rPr>
              <a:t>Dollar-Neutral L/S</a:t>
            </a:r>
            <a:endParaRPr lang="en-US" sz="850" dirty="0"/>
          </a:p>
        </p:txBody>
      </p:sp>
      <p:sp>
        <p:nvSpPr>
          <p:cNvPr id="62" name="Text 60"/>
          <p:cNvSpPr/>
          <p:nvPr/>
        </p:nvSpPr>
        <p:spPr>
          <a:xfrm>
            <a:off x="502920" y="3850000"/>
            <a:ext cx="3200000" cy="50000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rPr>
              <a:t>Tung Yuen Lok, Johnny</a:t>
            </a:r>
            <a:endParaRPr lang="en-US" sz="1600" dirty="0"/>
          </a:p>
        </p:txBody>
      </p:sp>
      <p:sp>
        <p:nvSpPr>
          <p:cNvPr id="63" name="Text 61"/>
          <p:cNvSpPr/>
          <p:nvPr/>
        </p:nvSpPr>
        <p:spPr>
          <a:xfrm>
            <a:off x="502920" y="4280000"/>
            <a:ext cx="3200000" cy="250000"/>
          </a:xfrm>
          <a:prstGeom prst="rect">
            <a:avLst/>
          </a:prstGeom>
          <a:noFill/>
          <a:ln/>
        </p:spPr>
        <p:txBody>
          <a:bodyPr wrap="square" lIns="0" tIns="0" rIns="0" bIns="0" rtlCol="0" anchor="ctr"/>
          <a:lstStyle/>
          <a:p>
            <a:pPr marL="0" indent="0" algn="l">
              <a:buNone/>
            </a:pPr>
            <a:r>
              <a:rPr lang="en-US" sz="1200" dirty="0">
                <a:solidFill>
                  <a:srgbClr val="94A3B8"/>
                </a:solidFill>
                <a:latin typeface="Calibri" pitchFamily="34" charset="0"/>
              </a:rPr>
              <a:t>SID: 1155143226</a:t>
            </a:r>
            <a:endParaRPr lang="en-US" sz="1200" dirty="0"/>
          </a:p>
        </p:txBody>
      </p:sp>
      <p:sp>
        <p:nvSpPr>
          <p:cNvPr id="61" name="Text 59"/>
          <p:cNvSpPr/>
          <p:nvPr/>
        </p:nvSpPr>
        <p:spPr>
          <a:xfrm>
            <a:off x="411480" y="4578976"/>
            <a:ext cx="5760720" cy="201168"/>
          </a:xfrm>
          <a:prstGeom prst="rect">
            <a:avLst/>
          </a:prstGeom>
          <a:noFill/>
          <a:ln/>
        </p:spPr>
        <p:txBody>
          <a:bodyPr wrap="square" rtlCol="0" anchor="ctr"/>
          <a:lstStyle/>
          <a:p>
            <a:pPr marL="0" indent="0" algn="l">
              <a:buNone/>
            </a:pPr>
            <a:r>
              <a:rPr lang="en-US" sz="900" dirty="0">
                <a:solidFill>
                  <a:srgbClr val="94A3B8"/>
                </a:solidFill>
                <a:latin typeface="Calibri" pitchFamily="34" charset="0"/>
              </a:rPr>
              <a:t>Code: </a:t>
            </a:r>
            <a:r>
              <a:rPr lang="en-US" sz="900" u="sng" dirty="0">
                <a:solidFill>
                  <a:srgbClr val="38BDF8"/>
                </a:solidFill>
                <a:latin typeface="Consolas" pitchFamily="34" charset="0"/>
                <a:hlinkClick r:id="rId3"/>
              </a:rPr>
              <a:t>github.com/JohnnyTung123/MLII</a:t>
            </a:r>
            <a:endParaRPr lang="en-US" sz="900" u="sng" dirty="0">
              <a:solidFill>
                <a:srgbClr val="38BDF8"/>
              </a:solidFill>
              <a:latin typeface="Consolas" pitchFamily="34" charset="0"/>
            </a:endParaRPr>
          </a:p>
        </p:txBody>
      </p:sp>
      <p:pic>
        <p:nvPicPr>
          <p:cNvPr id="2" name="Google Shape;4100;p46">
            <a:extLst>
              <a:ext uri="{FF2B5EF4-FFF2-40B4-BE49-F238E27FC236}">
                <a16:creationId xmlns:a16="http://schemas.microsoft.com/office/drawing/2014/main" id="{E501F7CE-DAE6-AC64-D39D-0E60B2DC17D3}"/>
              </a:ext>
            </a:extLst>
          </p:cNvPr>
          <p:cNvPicPr preferRelativeResize="0"/>
          <p:nvPr/>
        </p:nvPicPr>
        <p:blipFill>
          <a:blip r:embed="rId4">
            <a:alphaModFix/>
          </a:blip>
          <a:stretch>
            <a:fillRect/>
          </a:stretch>
        </p:blipFill>
        <p:spPr>
          <a:xfrm>
            <a:off x="8015929" y="230206"/>
            <a:ext cx="1036631" cy="581100"/>
          </a:xfrm>
          <a:prstGeom prst="rect">
            <a:avLst/>
          </a:prstGeom>
          <a:noFill/>
          <a:ln>
            <a:noFill/>
          </a:ln>
        </p:spPr>
      </p:pic>
      <p:sp>
        <p:nvSpPr>
          <p:cNvPr id="3" name="TextBox 2">
            <a:extLst>
              <a:ext uri="{FF2B5EF4-FFF2-40B4-BE49-F238E27FC236}">
                <a16:creationId xmlns:a16="http://schemas.microsoft.com/office/drawing/2014/main" id="{504A281B-312C-9573-6AD4-D66596E13233}"/>
              </a:ext>
            </a:extLst>
          </p:cNvPr>
          <p:cNvSpPr txBox="1"/>
          <p:nvPr/>
        </p:nvSpPr>
        <p:spPr>
          <a:xfrm>
            <a:off x="3690651" y="311777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734584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9728"/>
            <a:ext cx="8412480" cy="256032"/>
          </a:xfrm>
          <a:prstGeom prst="rect">
            <a:avLst/>
          </a:prstGeom>
          <a:noFill/>
          <a:ln/>
        </p:spPr>
        <p:txBody>
          <a:bodyPr wrap="square" rtlCol="0" anchor="ctr"/>
          <a:lstStyle/>
          <a:p>
            <a:pPr marL="0" indent="0" algn="l">
              <a:buNone/>
            </a:pPr>
            <a:r>
              <a:rPr lang="en-US" sz="800" b="1" kern="0" spc="300" dirty="0">
                <a:solidFill>
                  <a:srgbClr val="5D8AA8"/>
                </a:solidFill>
              </a:rPr>
              <a:t>METHODOLOGY</a:t>
            </a:r>
            <a:endParaRPr lang="en-US" sz="800" dirty="0"/>
          </a:p>
        </p:txBody>
      </p:sp>
      <p:sp>
        <p:nvSpPr>
          <p:cNvPr id="3" name="Text 1"/>
          <p:cNvSpPr/>
          <p:nvPr/>
        </p:nvSpPr>
        <p:spPr>
          <a:xfrm>
            <a:off x="365760" y="301752"/>
            <a:ext cx="8229600" cy="438912"/>
          </a:xfrm>
          <a:prstGeom prst="rect">
            <a:avLst/>
          </a:prstGeom>
          <a:noFill/>
          <a:ln/>
        </p:spPr>
        <p:txBody>
          <a:bodyPr wrap="square" rtlCol="0" anchor="ctr"/>
          <a:lstStyle/>
          <a:p>
            <a:pPr marL="0" indent="0">
              <a:buNone/>
            </a:pPr>
            <a:r>
              <a:rPr lang="en-US" sz="2400" b="1" dirty="0">
                <a:solidFill>
                  <a:srgbClr val="1A252F"/>
                </a:solidFill>
                <a:latin typeface="Calibri" pitchFamily="34" charset="0"/>
                <a:ea typeface="Calibri" pitchFamily="34" charset="-122"/>
                <a:cs typeface="Calibri" pitchFamily="34" charset="-120"/>
              </a:rPr>
              <a:t>Expanding Window Training</a:t>
            </a:r>
            <a:endParaRPr lang="en-US" sz="2400" dirty="0"/>
          </a:p>
        </p:txBody>
      </p:sp>
      <p:sp>
        <p:nvSpPr>
          <p:cNvPr id="4" name="Shape 2"/>
          <p:cNvSpPr/>
          <p:nvPr/>
        </p:nvSpPr>
        <p:spPr>
          <a:xfrm>
            <a:off x="502920" y="2029968"/>
            <a:ext cx="8321040" cy="36576"/>
          </a:xfrm>
          <a:prstGeom prst="rect">
            <a:avLst/>
          </a:prstGeom>
          <a:solidFill>
            <a:srgbClr val="7F8C8D"/>
          </a:solidFill>
          <a:ln w="12700">
            <a:solidFill>
              <a:srgbClr val="7F8C8D"/>
            </a:solidFill>
            <a:prstDash val="solid"/>
          </a:ln>
        </p:spPr>
        <p:txBody>
          <a:bodyPr/>
          <a:lstStyle/>
          <a:p>
            <a:endParaRPr lang="en-US"/>
          </a:p>
        </p:txBody>
      </p:sp>
      <p:sp>
        <p:nvSpPr>
          <p:cNvPr id="5" name="Shape 3"/>
          <p:cNvSpPr/>
          <p:nvPr/>
        </p:nvSpPr>
        <p:spPr>
          <a:xfrm>
            <a:off x="484632"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6" name="Text 4"/>
          <p:cNvSpPr/>
          <p:nvPr/>
        </p:nvSpPr>
        <p:spPr>
          <a:xfrm>
            <a:off x="182880" y="2130552"/>
            <a:ext cx="640080" cy="201168"/>
          </a:xfrm>
          <a:prstGeom prst="rect">
            <a:avLst/>
          </a:prstGeom>
          <a:noFill/>
          <a:ln/>
        </p:spPr>
        <p:txBody>
          <a:bodyPr wrap="square" rtlCol="0" anchor="ctr"/>
          <a:lstStyle/>
          <a:p>
            <a:pPr marL="0" indent="0" algn="ctr">
              <a:buNone/>
            </a:pPr>
            <a:r>
              <a:rPr lang="en-US" sz="900" dirty="0">
                <a:solidFill>
                  <a:srgbClr val="7F8C8D"/>
                </a:solidFill>
              </a:rPr>
              <a:t>1981</a:t>
            </a:r>
            <a:endParaRPr lang="en-US" sz="900" dirty="0"/>
          </a:p>
        </p:txBody>
      </p:sp>
      <p:sp>
        <p:nvSpPr>
          <p:cNvPr id="7" name="Shape 5"/>
          <p:cNvSpPr/>
          <p:nvPr/>
        </p:nvSpPr>
        <p:spPr>
          <a:xfrm>
            <a:off x="2148840"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8" name="Text 6"/>
          <p:cNvSpPr/>
          <p:nvPr/>
        </p:nvSpPr>
        <p:spPr>
          <a:xfrm>
            <a:off x="1847088" y="2130552"/>
            <a:ext cx="640080" cy="201168"/>
          </a:xfrm>
          <a:prstGeom prst="rect">
            <a:avLst/>
          </a:prstGeom>
          <a:noFill/>
          <a:ln/>
        </p:spPr>
        <p:txBody>
          <a:bodyPr wrap="square" rtlCol="0" anchor="ctr"/>
          <a:lstStyle/>
          <a:p>
            <a:pPr marL="0" indent="0" algn="ctr">
              <a:buNone/>
            </a:pPr>
            <a:r>
              <a:rPr lang="en-US" sz="900" dirty="0">
                <a:solidFill>
                  <a:srgbClr val="7F8C8D"/>
                </a:solidFill>
              </a:rPr>
              <a:t>1986</a:t>
            </a:r>
            <a:endParaRPr lang="en-US" sz="900" dirty="0"/>
          </a:p>
        </p:txBody>
      </p:sp>
      <p:sp>
        <p:nvSpPr>
          <p:cNvPr id="9" name="Shape 7"/>
          <p:cNvSpPr/>
          <p:nvPr/>
        </p:nvSpPr>
        <p:spPr>
          <a:xfrm>
            <a:off x="3401568"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10" name="Text 8"/>
          <p:cNvSpPr/>
          <p:nvPr/>
        </p:nvSpPr>
        <p:spPr>
          <a:xfrm>
            <a:off x="3099816" y="2130552"/>
            <a:ext cx="640080" cy="201168"/>
          </a:xfrm>
          <a:prstGeom prst="rect">
            <a:avLst/>
          </a:prstGeom>
          <a:noFill/>
          <a:ln/>
        </p:spPr>
        <p:txBody>
          <a:bodyPr wrap="square" rtlCol="0" anchor="ctr"/>
          <a:lstStyle/>
          <a:p>
            <a:pPr marL="0" indent="0" algn="ctr">
              <a:buNone/>
            </a:pPr>
            <a:r>
              <a:rPr lang="en-US" sz="900" dirty="0">
                <a:solidFill>
                  <a:srgbClr val="7F8C8D"/>
                </a:solidFill>
              </a:rPr>
              <a:t>1987</a:t>
            </a:r>
            <a:endParaRPr lang="en-US" sz="900" dirty="0"/>
          </a:p>
        </p:txBody>
      </p:sp>
      <p:sp>
        <p:nvSpPr>
          <p:cNvPr id="11" name="Shape 9"/>
          <p:cNvSpPr/>
          <p:nvPr/>
        </p:nvSpPr>
        <p:spPr>
          <a:xfrm>
            <a:off x="4645152"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12" name="Text 10"/>
          <p:cNvSpPr/>
          <p:nvPr/>
        </p:nvSpPr>
        <p:spPr>
          <a:xfrm>
            <a:off x="4343400" y="2130552"/>
            <a:ext cx="640080" cy="201168"/>
          </a:xfrm>
          <a:prstGeom prst="rect">
            <a:avLst/>
          </a:prstGeom>
          <a:noFill/>
          <a:ln/>
        </p:spPr>
        <p:txBody>
          <a:bodyPr wrap="square" rtlCol="0" anchor="ctr"/>
          <a:lstStyle/>
          <a:p>
            <a:pPr marL="0" indent="0" algn="ctr">
              <a:buNone/>
            </a:pPr>
            <a:r>
              <a:rPr lang="en-US" sz="900" dirty="0">
                <a:solidFill>
                  <a:srgbClr val="7F8C8D"/>
                </a:solidFill>
              </a:rPr>
              <a:t>1988</a:t>
            </a:r>
            <a:endParaRPr lang="en-US" sz="900" dirty="0"/>
          </a:p>
        </p:txBody>
      </p:sp>
      <p:sp>
        <p:nvSpPr>
          <p:cNvPr id="13" name="Shape 11"/>
          <p:cNvSpPr/>
          <p:nvPr/>
        </p:nvSpPr>
        <p:spPr>
          <a:xfrm>
            <a:off x="8668512" y="1993392"/>
            <a:ext cx="36576" cy="128016"/>
          </a:xfrm>
          <a:prstGeom prst="rect">
            <a:avLst/>
          </a:prstGeom>
          <a:solidFill>
            <a:srgbClr val="7F8C8D"/>
          </a:solidFill>
          <a:ln w="12700">
            <a:solidFill>
              <a:srgbClr val="7F8C8D"/>
            </a:solidFill>
            <a:prstDash val="solid"/>
          </a:ln>
        </p:spPr>
        <p:txBody>
          <a:bodyPr/>
          <a:lstStyle/>
          <a:p>
            <a:endParaRPr lang="en-US"/>
          </a:p>
        </p:txBody>
      </p:sp>
      <p:sp>
        <p:nvSpPr>
          <p:cNvPr id="14" name="Text 12"/>
          <p:cNvSpPr/>
          <p:nvPr/>
        </p:nvSpPr>
        <p:spPr>
          <a:xfrm>
            <a:off x="8366760" y="2130552"/>
            <a:ext cx="640080" cy="201168"/>
          </a:xfrm>
          <a:prstGeom prst="rect">
            <a:avLst/>
          </a:prstGeom>
          <a:noFill/>
          <a:ln/>
        </p:spPr>
        <p:txBody>
          <a:bodyPr wrap="square" rtlCol="0" anchor="ctr"/>
          <a:lstStyle/>
          <a:p>
            <a:pPr marL="0" indent="0" algn="ctr">
              <a:buNone/>
            </a:pPr>
            <a:r>
              <a:rPr lang="en-US" sz="900" dirty="0">
                <a:solidFill>
                  <a:srgbClr val="7F8C8D"/>
                </a:solidFill>
              </a:rPr>
              <a:t>Today</a:t>
            </a:r>
            <a:endParaRPr lang="en-US" sz="900" dirty="0"/>
          </a:p>
        </p:txBody>
      </p:sp>
      <p:sp>
        <p:nvSpPr>
          <p:cNvPr id="15" name="Shape 13"/>
          <p:cNvSpPr/>
          <p:nvPr/>
        </p:nvSpPr>
        <p:spPr>
          <a:xfrm>
            <a:off x="502920" y="804672"/>
            <a:ext cx="1499616" cy="274320"/>
          </a:xfrm>
          <a:prstGeom prst="rect">
            <a:avLst/>
          </a:prstGeom>
          <a:solidFill>
            <a:srgbClr val="1B4F72"/>
          </a:solidFill>
          <a:ln w="8890">
            <a:solidFill>
              <a:srgbClr val="2E86C1"/>
            </a:solidFill>
            <a:prstDash val="solid"/>
          </a:ln>
        </p:spPr>
        <p:txBody>
          <a:bodyPr/>
          <a:lstStyle/>
          <a:p>
            <a:endParaRPr lang="en-US"/>
          </a:p>
        </p:txBody>
      </p:sp>
      <p:sp>
        <p:nvSpPr>
          <p:cNvPr id="16" name="Text 14"/>
          <p:cNvSpPr/>
          <p:nvPr/>
        </p:nvSpPr>
        <p:spPr>
          <a:xfrm>
            <a:off x="566928" y="822960"/>
            <a:ext cx="1344168" cy="237744"/>
          </a:xfrm>
          <a:prstGeom prst="rect">
            <a:avLst/>
          </a:prstGeom>
          <a:noFill/>
          <a:ln/>
        </p:spPr>
        <p:txBody>
          <a:bodyPr wrap="square" lIns="0" tIns="0" rIns="0" bIns="0" rtlCol="0" anchor="ctr"/>
          <a:lstStyle/>
          <a:p>
            <a:pPr marL="0" indent="0">
              <a:buNone/>
            </a:pPr>
            <a:r>
              <a:rPr lang="en-US" sz="800" b="1" dirty="0">
                <a:solidFill>
                  <a:srgbClr val="FFFFFF"/>
                </a:solidFill>
              </a:rPr>
              <a:t>[1981-01 to 1985-12]</a:t>
            </a:r>
            <a:endParaRPr lang="en-US" sz="800" dirty="0"/>
          </a:p>
        </p:txBody>
      </p:sp>
      <p:sp>
        <p:nvSpPr>
          <p:cNvPr id="17" name="Text 15"/>
          <p:cNvSpPr/>
          <p:nvPr/>
        </p:nvSpPr>
        <p:spPr>
          <a:xfrm>
            <a:off x="1965960" y="813816"/>
            <a:ext cx="256032" cy="237744"/>
          </a:xfrm>
          <a:prstGeom prst="rect">
            <a:avLst/>
          </a:prstGeom>
          <a:noFill/>
          <a:ln/>
        </p:spPr>
        <p:txBody>
          <a:bodyPr wrap="square" lIns="0" tIns="0" rIns="0" bIns="0" rtlCol="0" anchor="ctr"/>
          <a:lstStyle/>
          <a:p>
            <a:pPr marL="0" indent="0" algn="ctr">
              <a:buNone/>
            </a:pPr>
            <a:r>
              <a:rPr lang="en-US" sz="1300" b="1" dirty="0">
                <a:solidFill>
                  <a:srgbClr val="2E86C1"/>
                </a:solidFill>
              </a:rPr>
              <a:t>→</a:t>
            </a:r>
            <a:endParaRPr lang="en-US" sz="1300" dirty="0"/>
          </a:p>
        </p:txBody>
      </p:sp>
      <p:sp>
        <p:nvSpPr>
          <p:cNvPr id="18" name="Shape 16"/>
          <p:cNvSpPr/>
          <p:nvPr/>
        </p:nvSpPr>
        <p:spPr>
          <a:xfrm>
            <a:off x="2167128" y="804672"/>
            <a:ext cx="3246120" cy="274320"/>
          </a:xfrm>
          <a:prstGeom prst="rect">
            <a:avLst/>
          </a:prstGeom>
          <a:solidFill>
            <a:srgbClr val="1E8449"/>
          </a:solidFill>
          <a:ln w="8890">
            <a:solidFill>
              <a:srgbClr val="1A6B3A"/>
            </a:solidFill>
            <a:prstDash val="solid"/>
          </a:ln>
        </p:spPr>
        <p:txBody>
          <a:bodyPr/>
          <a:lstStyle/>
          <a:p>
            <a:endParaRPr lang="en-US"/>
          </a:p>
        </p:txBody>
      </p:sp>
      <p:sp>
        <p:nvSpPr>
          <p:cNvPr id="19" name="Text 17"/>
          <p:cNvSpPr/>
          <p:nvPr/>
        </p:nvSpPr>
        <p:spPr>
          <a:xfrm>
            <a:off x="2240280" y="822960"/>
            <a:ext cx="3063240" cy="237744"/>
          </a:xfrm>
          <a:prstGeom prst="rect">
            <a:avLst/>
          </a:prstGeom>
          <a:noFill/>
          <a:ln/>
        </p:spPr>
        <p:txBody>
          <a:bodyPr wrap="square" lIns="0" tIns="0" rIns="0" bIns="0" rtlCol="0" anchor="ctr"/>
          <a:lstStyle/>
          <a:p>
            <a:pPr marL="0" indent="0">
              <a:buNone/>
            </a:pPr>
            <a:r>
              <a:rPr lang="en-US" sz="800" b="1" dirty="0">
                <a:solidFill>
                  <a:srgbClr val="FFFFFF"/>
                </a:solidFill>
              </a:rPr>
              <a:t>Score 1986-01  →  ret_exc_lead1m (1986-02)</a:t>
            </a:r>
            <a:endParaRPr lang="en-US" sz="800" dirty="0"/>
          </a:p>
        </p:txBody>
      </p:sp>
      <p:sp>
        <p:nvSpPr>
          <p:cNvPr id="20" name="Text 18"/>
          <p:cNvSpPr/>
          <p:nvPr/>
        </p:nvSpPr>
        <p:spPr>
          <a:xfrm>
            <a:off x="5504688" y="841248"/>
            <a:ext cx="1280160" cy="201168"/>
          </a:xfrm>
          <a:prstGeom prst="rect">
            <a:avLst/>
          </a:prstGeom>
          <a:noFill/>
          <a:ln/>
        </p:spPr>
        <p:txBody>
          <a:bodyPr wrap="square" rtlCol="0" anchor="ctr"/>
          <a:lstStyle/>
          <a:p>
            <a:pPr marL="0" indent="0">
              <a:buNone/>
            </a:pPr>
            <a:r>
              <a:rPr lang="en-US" sz="800" b="1" dirty="0">
                <a:solidFill>
                  <a:srgbClr val="6C3483"/>
                </a:solidFill>
              </a:rPr>
              <a:t>Train Model 1</a:t>
            </a:r>
            <a:endParaRPr lang="en-US" sz="800" dirty="0"/>
          </a:p>
        </p:txBody>
      </p:sp>
      <p:sp>
        <p:nvSpPr>
          <p:cNvPr id="21" name="Shape 19"/>
          <p:cNvSpPr/>
          <p:nvPr/>
        </p:nvSpPr>
        <p:spPr>
          <a:xfrm>
            <a:off x="502920" y="1207008"/>
            <a:ext cx="2752344" cy="274320"/>
          </a:xfrm>
          <a:prstGeom prst="rect">
            <a:avLst/>
          </a:prstGeom>
          <a:solidFill>
            <a:srgbClr val="1B4F72"/>
          </a:solidFill>
          <a:ln w="8890">
            <a:solidFill>
              <a:srgbClr val="2E86C1"/>
            </a:solidFill>
            <a:prstDash val="solid"/>
          </a:ln>
        </p:spPr>
        <p:txBody>
          <a:bodyPr/>
          <a:lstStyle/>
          <a:p>
            <a:endParaRPr lang="en-US"/>
          </a:p>
        </p:txBody>
      </p:sp>
      <p:sp>
        <p:nvSpPr>
          <p:cNvPr id="22" name="Text 20"/>
          <p:cNvSpPr/>
          <p:nvPr/>
        </p:nvSpPr>
        <p:spPr>
          <a:xfrm>
            <a:off x="566928" y="1225296"/>
            <a:ext cx="2596896" cy="237744"/>
          </a:xfrm>
          <a:prstGeom prst="rect">
            <a:avLst/>
          </a:prstGeom>
          <a:noFill/>
          <a:ln/>
        </p:spPr>
        <p:txBody>
          <a:bodyPr wrap="square" lIns="0" tIns="0" rIns="0" bIns="0" rtlCol="0" anchor="ctr"/>
          <a:lstStyle/>
          <a:p>
            <a:pPr marL="0" indent="0">
              <a:buNone/>
            </a:pPr>
            <a:r>
              <a:rPr lang="en-US" sz="800" b="1" dirty="0">
                <a:solidFill>
                  <a:srgbClr val="FFFFFF"/>
                </a:solidFill>
              </a:rPr>
              <a:t>[1981-01 to 1986-12]</a:t>
            </a:r>
            <a:endParaRPr lang="en-US" sz="800" dirty="0"/>
          </a:p>
        </p:txBody>
      </p:sp>
      <p:sp>
        <p:nvSpPr>
          <p:cNvPr id="23" name="Text 21"/>
          <p:cNvSpPr/>
          <p:nvPr/>
        </p:nvSpPr>
        <p:spPr>
          <a:xfrm>
            <a:off x="3218688" y="1225296"/>
            <a:ext cx="256032" cy="237744"/>
          </a:xfrm>
          <a:prstGeom prst="rect">
            <a:avLst/>
          </a:prstGeom>
          <a:noFill/>
          <a:ln/>
        </p:spPr>
        <p:txBody>
          <a:bodyPr wrap="square" lIns="0" tIns="0" rIns="0" bIns="0" rtlCol="0" anchor="ctr"/>
          <a:lstStyle/>
          <a:p>
            <a:pPr marL="0" indent="0" algn="ctr">
              <a:buNone/>
            </a:pPr>
            <a:r>
              <a:rPr lang="en-US" sz="1300" b="1" dirty="0">
                <a:solidFill>
                  <a:srgbClr val="2E86C1"/>
                </a:solidFill>
              </a:rPr>
              <a:t>→</a:t>
            </a:r>
            <a:endParaRPr lang="en-US" sz="1300" dirty="0"/>
          </a:p>
        </p:txBody>
      </p:sp>
      <p:sp>
        <p:nvSpPr>
          <p:cNvPr id="24" name="Shape 22"/>
          <p:cNvSpPr/>
          <p:nvPr/>
        </p:nvSpPr>
        <p:spPr>
          <a:xfrm>
            <a:off x="3419856" y="1207008"/>
            <a:ext cx="3246120" cy="274320"/>
          </a:xfrm>
          <a:prstGeom prst="rect">
            <a:avLst/>
          </a:prstGeom>
          <a:solidFill>
            <a:srgbClr val="1E8449"/>
          </a:solidFill>
          <a:ln w="8890">
            <a:solidFill>
              <a:srgbClr val="1A6B3A"/>
            </a:solidFill>
            <a:prstDash val="solid"/>
          </a:ln>
        </p:spPr>
        <p:txBody>
          <a:bodyPr/>
          <a:lstStyle/>
          <a:p>
            <a:endParaRPr lang="en-US"/>
          </a:p>
        </p:txBody>
      </p:sp>
      <p:sp>
        <p:nvSpPr>
          <p:cNvPr id="25" name="Text 23"/>
          <p:cNvSpPr/>
          <p:nvPr/>
        </p:nvSpPr>
        <p:spPr>
          <a:xfrm>
            <a:off x="3493008" y="1225296"/>
            <a:ext cx="3063240" cy="237744"/>
          </a:xfrm>
          <a:prstGeom prst="rect">
            <a:avLst/>
          </a:prstGeom>
          <a:noFill/>
          <a:ln/>
        </p:spPr>
        <p:txBody>
          <a:bodyPr wrap="square" lIns="0" tIns="0" rIns="0" bIns="0" rtlCol="0" anchor="ctr"/>
          <a:lstStyle/>
          <a:p>
            <a:pPr marL="0" indent="0">
              <a:buNone/>
            </a:pPr>
            <a:r>
              <a:rPr lang="en-US" sz="800" b="1" dirty="0">
                <a:solidFill>
                  <a:srgbClr val="FFFFFF"/>
                </a:solidFill>
              </a:rPr>
              <a:t>Score 1987-01  →  ret_exc_lead1m (1987-02)</a:t>
            </a:r>
            <a:endParaRPr lang="en-US" sz="800" dirty="0"/>
          </a:p>
        </p:txBody>
      </p:sp>
      <p:sp>
        <p:nvSpPr>
          <p:cNvPr id="26" name="Text 24"/>
          <p:cNvSpPr/>
          <p:nvPr/>
        </p:nvSpPr>
        <p:spPr>
          <a:xfrm>
            <a:off x="6757416" y="1243584"/>
            <a:ext cx="1280160" cy="201168"/>
          </a:xfrm>
          <a:prstGeom prst="rect">
            <a:avLst/>
          </a:prstGeom>
          <a:noFill/>
          <a:ln/>
        </p:spPr>
        <p:txBody>
          <a:bodyPr wrap="square" rtlCol="0" anchor="ctr"/>
          <a:lstStyle/>
          <a:p>
            <a:pPr marL="0" indent="0">
              <a:buNone/>
            </a:pPr>
            <a:r>
              <a:rPr lang="en-US" sz="800" b="1" dirty="0">
                <a:solidFill>
                  <a:srgbClr val="6C3483"/>
                </a:solidFill>
              </a:rPr>
              <a:t>Train Model 2</a:t>
            </a:r>
            <a:endParaRPr lang="en-US" sz="800" dirty="0"/>
          </a:p>
        </p:txBody>
      </p:sp>
      <p:sp>
        <p:nvSpPr>
          <p:cNvPr id="27" name="Shape 25"/>
          <p:cNvSpPr/>
          <p:nvPr/>
        </p:nvSpPr>
        <p:spPr>
          <a:xfrm>
            <a:off x="502920" y="1609344"/>
            <a:ext cx="3995928" cy="274320"/>
          </a:xfrm>
          <a:prstGeom prst="rect">
            <a:avLst/>
          </a:prstGeom>
          <a:solidFill>
            <a:srgbClr val="1B4F72"/>
          </a:solidFill>
          <a:ln w="8890">
            <a:solidFill>
              <a:srgbClr val="2E86C1"/>
            </a:solidFill>
            <a:prstDash val="solid"/>
          </a:ln>
        </p:spPr>
        <p:txBody>
          <a:bodyPr/>
          <a:lstStyle/>
          <a:p>
            <a:endParaRPr lang="en-US"/>
          </a:p>
        </p:txBody>
      </p:sp>
      <p:sp>
        <p:nvSpPr>
          <p:cNvPr id="28" name="Text 26"/>
          <p:cNvSpPr/>
          <p:nvPr/>
        </p:nvSpPr>
        <p:spPr>
          <a:xfrm>
            <a:off x="566928" y="1627632"/>
            <a:ext cx="3840480" cy="237744"/>
          </a:xfrm>
          <a:prstGeom prst="rect">
            <a:avLst/>
          </a:prstGeom>
          <a:noFill/>
          <a:ln/>
        </p:spPr>
        <p:txBody>
          <a:bodyPr wrap="square" lIns="0" tIns="0" rIns="0" bIns="0" rtlCol="0" anchor="ctr"/>
          <a:lstStyle/>
          <a:p>
            <a:pPr marL="0" indent="0">
              <a:buNone/>
            </a:pPr>
            <a:r>
              <a:rPr lang="en-US" sz="800" b="1" dirty="0">
                <a:solidFill>
                  <a:srgbClr val="FFFFFF"/>
                </a:solidFill>
              </a:rPr>
              <a:t>[1981-01 to  1987-12]</a:t>
            </a:r>
            <a:endParaRPr lang="en-US" sz="800" dirty="0"/>
          </a:p>
        </p:txBody>
      </p:sp>
      <p:sp>
        <p:nvSpPr>
          <p:cNvPr id="29" name="Text 27"/>
          <p:cNvSpPr/>
          <p:nvPr/>
        </p:nvSpPr>
        <p:spPr>
          <a:xfrm>
            <a:off x="4462272" y="1627632"/>
            <a:ext cx="256032" cy="237744"/>
          </a:xfrm>
          <a:prstGeom prst="rect">
            <a:avLst/>
          </a:prstGeom>
          <a:noFill/>
          <a:ln/>
        </p:spPr>
        <p:txBody>
          <a:bodyPr wrap="square" lIns="0" tIns="0" rIns="0" bIns="0" rtlCol="0" anchor="ctr"/>
          <a:lstStyle/>
          <a:p>
            <a:pPr marL="0" indent="0" algn="ctr">
              <a:buNone/>
            </a:pPr>
            <a:r>
              <a:rPr lang="en-US" sz="1300" b="1" dirty="0">
                <a:solidFill>
                  <a:srgbClr val="2E86C1"/>
                </a:solidFill>
              </a:rPr>
              <a:t>→</a:t>
            </a:r>
            <a:endParaRPr lang="en-US" sz="1300" dirty="0"/>
          </a:p>
        </p:txBody>
      </p:sp>
      <p:sp>
        <p:nvSpPr>
          <p:cNvPr id="30" name="Shape 28"/>
          <p:cNvSpPr/>
          <p:nvPr/>
        </p:nvSpPr>
        <p:spPr>
          <a:xfrm>
            <a:off x="4663440" y="1609344"/>
            <a:ext cx="3246120" cy="274320"/>
          </a:xfrm>
          <a:prstGeom prst="rect">
            <a:avLst/>
          </a:prstGeom>
          <a:solidFill>
            <a:srgbClr val="1E8449"/>
          </a:solidFill>
          <a:ln w="8890">
            <a:solidFill>
              <a:srgbClr val="1A6B3A"/>
            </a:solidFill>
            <a:prstDash val="solid"/>
          </a:ln>
        </p:spPr>
        <p:txBody>
          <a:bodyPr/>
          <a:lstStyle/>
          <a:p>
            <a:endParaRPr lang="en-US"/>
          </a:p>
        </p:txBody>
      </p:sp>
      <p:sp>
        <p:nvSpPr>
          <p:cNvPr id="31" name="Text 29"/>
          <p:cNvSpPr/>
          <p:nvPr/>
        </p:nvSpPr>
        <p:spPr>
          <a:xfrm>
            <a:off x="4736592" y="1627632"/>
            <a:ext cx="3063240" cy="237744"/>
          </a:xfrm>
          <a:prstGeom prst="rect">
            <a:avLst/>
          </a:prstGeom>
          <a:noFill/>
          <a:ln/>
        </p:spPr>
        <p:txBody>
          <a:bodyPr wrap="square" lIns="0" tIns="0" rIns="0" bIns="0" rtlCol="0" anchor="ctr"/>
          <a:lstStyle/>
          <a:p>
            <a:pPr marL="0" indent="0">
              <a:buNone/>
            </a:pPr>
            <a:r>
              <a:rPr lang="en-US" sz="800" b="1" dirty="0">
                <a:solidFill>
                  <a:srgbClr val="FFFFFF"/>
                </a:solidFill>
              </a:rPr>
              <a:t>Score 1988-01  →  ret_exc_lead1m (1988-02)</a:t>
            </a:r>
            <a:endParaRPr lang="en-US" sz="800" dirty="0"/>
          </a:p>
        </p:txBody>
      </p:sp>
      <p:sp>
        <p:nvSpPr>
          <p:cNvPr id="32" name="Text 30"/>
          <p:cNvSpPr/>
          <p:nvPr/>
        </p:nvSpPr>
        <p:spPr>
          <a:xfrm>
            <a:off x="8001000" y="1645920"/>
            <a:ext cx="1280160" cy="201168"/>
          </a:xfrm>
          <a:prstGeom prst="rect">
            <a:avLst/>
          </a:prstGeom>
          <a:noFill/>
          <a:ln/>
        </p:spPr>
        <p:txBody>
          <a:bodyPr wrap="square" rtlCol="0" anchor="ctr"/>
          <a:lstStyle/>
          <a:p>
            <a:pPr marL="0" indent="0">
              <a:buNone/>
            </a:pPr>
            <a:r>
              <a:rPr lang="en-US" sz="800" b="1" dirty="0">
                <a:solidFill>
                  <a:srgbClr val="6C3483"/>
                </a:solidFill>
              </a:rPr>
              <a:t>Train Model 3</a:t>
            </a:r>
            <a:endParaRPr lang="en-US" sz="800" dirty="0"/>
          </a:p>
        </p:txBody>
      </p:sp>
      <p:sp>
        <p:nvSpPr>
          <p:cNvPr id="34" name="Shape 32"/>
          <p:cNvSpPr/>
          <p:nvPr/>
        </p:nvSpPr>
        <p:spPr>
          <a:xfrm>
            <a:off x="274320" y="804672"/>
            <a:ext cx="54864" cy="1170432"/>
          </a:xfrm>
          <a:prstGeom prst="rect">
            <a:avLst/>
          </a:prstGeom>
          <a:solidFill>
            <a:srgbClr val="6C3483"/>
          </a:solidFill>
          <a:ln w="12700">
            <a:solidFill>
              <a:srgbClr val="6C3483"/>
            </a:solidFill>
            <a:prstDash val="solid"/>
          </a:ln>
        </p:spPr>
        <p:txBody>
          <a:bodyPr/>
          <a:lstStyle/>
          <a:p>
            <a:endParaRPr lang="en-US"/>
          </a:p>
        </p:txBody>
      </p:sp>
      <p:sp>
        <p:nvSpPr>
          <p:cNvPr id="35" name="Text 33"/>
          <p:cNvSpPr/>
          <p:nvPr/>
        </p:nvSpPr>
        <p:spPr>
          <a:xfrm>
            <a:off x="0" y="1051560"/>
            <a:ext cx="274320" cy="457200"/>
          </a:xfrm>
          <a:prstGeom prst="rect">
            <a:avLst/>
          </a:prstGeom>
          <a:noFill/>
          <a:ln/>
        </p:spPr>
        <p:txBody>
          <a:bodyPr wrap="square" rtlCol="0" anchor="ctr"/>
          <a:lstStyle/>
          <a:p>
            <a:pPr marL="0" indent="0" algn="ctr">
              <a:buNone/>
            </a:pPr>
            <a:endParaRPr lang="en-US" sz="600" dirty="0"/>
          </a:p>
        </p:txBody>
      </p:sp>
      <p:sp>
        <p:nvSpPr>
          <p:cNvPr id="36" name="Shape 34"/>
          <p:cNvSpPr/>
          <p:nvPr/>
        </p:nvSpPr>
        <p:spPr>
          <a:xfrm>
            <a:off x="502920" y="2377440"/>
            <a:ext cx="8321040" cy="292608"/>
          </a:xfrm>
          <a:prstGeom prst="rect">
            <a:avLst/>
          </a:prstGeom>
          <a:solidFill>
            <a:srgbClr val="FFF8E1"/>
          </a:solidFill>
          <a:ln w="10160">
            <a:solidFill>
              <a:srgbClr val="D4AC0D"/>
            </a:solidFill>
            <a:prstDash val="solid"/>
          </a:ln>
        </p:spPr>
        <p:txBody>
          <a:bodyPr/>
          <a:lstStyle/>
          <a:p>
            <a:endParaRPr lang="en-US"/>
          </a:p>
        </p:txBody>
      </p:sp>
      <p:sp>
        <p:nvSpPr>
          <p:cNvPr id="37" name="Text 35"/>
          <p:cNvSpPr/>
          <p:nvPr/>
        </p:nvSpPr>
        <p:spPr>
          <a:xfrm>
            <a:off x="658368" y="2414016"/>
            <a:ext cx="8001000" cy="228600"/>
          </a:xfrm>
          <a:prstGeom prst="rect">
            <a:avLst/>
          </a:prstGeom>
          <a:noFill/>
          <a:ln/>
        </p:spPr>
        <p:txBody>
          <a:bodyPr wrap="square" rtlCol="0" anchor="ctr"/>
          <a:lstStyle/>
          <a:p>
            <a:r>
              <a:rPr lang="en-US" sz="950" b="1" dirty="0">
                <a:solidFill>
                  <a:srgbClr val="D4AC0D"/>
                </a:solidFill>
              </a:rPr>
              <a:t>No look-ahead: </a:t>
            </a:r>
            <a:r>
              <a:rPr lang="en-US" sz="950" dirty="0">
                <a:solidFill>
                  <a:srgbClr val="1A252F"/>
                </a:solidFill>
              </a:rPr>
              <a:t>Model always trained on [1981 … T−1], scored on T and then roll forward.</a:t>
            </a:r>
            <a:endParaRPr lang="en-US" sz="950" dirty="0"/>
          </a:p>
        </p:txBody>
      </p:sp>
      <p:sp>
        <p:nvSpPr>
          <p:cNvPr id="60" name="Shape 60"/>
          <p:cNvSpPr/>
          <p:nvPr/>
        </p:nvSpPr>
        <p:spPr>
          <a:xfrm>
            <a:off x="274320" y="283464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a:p>
        </p:txBody>
      </p:sp>
      <p:sp>
        <p:nvSpPr>
          <p:cNvPr id="61" name="Shape 61"/>
          <p:cNvSpPr/>
          <p:nvPr/>
        </p:nvSpPr>
        <p:spPr>
          <a:xfrm>
            <a:off x="274320" y="2834640"/>
            <a:ext cx="4229100" cy="274320"/>
          </a:xfrm>
          <a:prstGeom prst="rect">
            <a:avLst/>
          </a:prstGeom>
          <a:solidFill>
            <a:srgbClr val="10B981"/>
          </a:solidFill>
          <a:ln w="12700">
            <a:solidFill>
              <a:srgbClr val="10B981"/>
            </a:solidFill>
            <a:prstDash val="solid"/>
          </a:ln>
        </p:spPr>
        <p:txBody>
          <a:bodyPr/>
          <a:lstStyle/>
          <a:p>
            <a:endParaRPr lang="en-US"/>
          </a:p>
        </p:txBody>
      </p:sp>
      <p:sp>
        <p:nvSpPr>
          <p:cNvPr id="62" name="Text 62"/>
          <p:cNvSpPr/>
          <p:nvPr/>
        </p:nvSpPr>
        <p:spPr>
          <a:xfrm>
            <a:off x="347472" y="2843784"/>
            <a:ext cx="4082796" cy="256032"/>
          </a:xfrm>
          <a:prstGeom prst="rect">
            <a:avLst/>
          </a:prstGeom>
          <a:noFill/>
          <a:ln/>
        </p:spPr>
        <p:txBody>
          <a:bodyPr wrap="square" rtlCol="0" anchor="ctr"/>
          <a:lstStyle/>
          <a:p>
            <a:pPr marL="0" indent="0">
              <a:buNone/>
            </a:pPr>
            <a:r>
              <a:rPr lang="en-US" sz="1050" b="1">
                <a:solidFill>
                  <a:srgbClr val="FFFFFF"/>
                </a:solidFill>
              </a:rPr>
              <a:t>01  Rank Normalization</a:t>
            </a:r>
            <a:endParaRPr lang="en-US" sz="1050"/>
          </a:p>
        </p:txBody>
      </p:sp>
      <p:sp>
        <p:nvSpPr>
          <p:cNvPr id="63" name="Text 63"/>
          <p:cNvSpPr/>
          <p:nvPr/>
        </p:nvSpPr>
        <p:spPr>
          <a:xfrm>
            <a:off x="347472" y="3127248"/>
            <a:ext cx="4082796" cy="201168"/>
          </a:xfrm>
          <a:prstGeom prst="rect">
            <a:avLst/>
          </a:prstGeom>
          <a:noFill/>
          <a:ln/>
        </p:spPr>
        <p:txBody>
          <a:bodyPr wrap="square" rtlCol="0" anchor="ctr"/>
          <a:lstStyle/>
          <a:p>
            <a:pPr marL="0" indent="0">
              <a:buNone/>
            </a:pPr>
            <a:r>
              <a:rPr lang="en-US" sz="850">
                <a:solidFill>
                  <a:srgbClr val="10B981"/>
                </a:solidFill>
                <a:latin typeface="Consolas" pitchFamily="34" charset="0"/>
                <a:ea typeface="Consolas" pitchFamily="34" charset="-122"/>
                <a:cs typeface="Consolas" pitchFamily="34" charset="-120"/>
              </a:rPr>
              <a:t>rank(x) → [−0.5, +0.5]</a:t>
            </a:r>
            <a:endParaRPr lang="en-US" sz="850"/>
          </a:p>
        </p:txBody>
      </p:sp>
      <p:sp>
        <p:nvSpPr>
          <p:cNvPr id="64" name="Text 64"/>
          <p:cNvSpPr/>
          <p:nvPr/>
        </p:nvSpPr>
        <p:spPr>
          <a:xfrm>
            <a:off x="347472" y="3337560"/>
            <a:ext cx="4082796" cy="452628"/>
          </a:xfrm>
          <a:prstGeom prst="rect">
            <a:avLst/>
          </a:prstGeom>
          <a:noFill/>
          <a:ln/>
        </p:spPr>
        <p:txBody>
          <a:bodyPr wrap="square" rtlCol="0" anchor="t"/>
          <a:lstStyle/>
          <a:p>
            <a:r>
              <a:rPr lang="en-US" sz="900" dirty="0">
                <a:solidFill>
                  <a:srgbClr val="7F8C8D"/>
                </a:solidFill>
              </a:rPr>
              <a:t>Cross-sectional rank-normalization is applied to features each month, handling scale heterogeneity for tree-based models.</a:t>
            </a:r>
            <a:endParaRPr lang="en-US" sz="900" dirty="0"/>
          </a:p>
        </p:txBody>
      </p:sp>
      <p:sp>
        <p:nvSpPr>
          <p:cNvPr id="65" name="Shape 65"/>
          <p:cNvSpPr/>
          <p:nvPr/>
        </p:nvSpPr>
        <p:spPr>
          <a:xfrm>
            <a:off x="4640580" y="283464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a:p>
        </p:txBody>
      </p:sp>
      <p:sp>
        <p:nvSpPr>
          <p:cNvPr id="66" name="Shape 66"/>
          <p:cNvSpPr/>
          <p:nvPr/>
        </p:nvSpPr>
        <p:spPr>
          <a:xfrm>
            <a:off x="4640580" y="2834640"/>
            <a:ext cx="4229100" cy="274320"/>
          </a:xfrm>
          <a:prstGeom prst="rect">
            <a:avLst/>
          </a:prstGeom>
          <a:solidFill>
            <a:srgbClr val="F59E0B"/>
          </a:solidFill>
          <a:ln w="12700">
            <a:solidFill>
              <a:srgbClr val="F59E0B"/>
            </a:solidFill>
            <a:prstDash val="solid"/>
          </a:ln>
        </p:spPr>
        <p:txBody>
          <a:bodyPr/>
          <a:lstStyle/>
          <a:p>
            <a:endParaRPr lang="en-US"/>
          </a:p>
        </p:txBody>
      </p:sp>
      <p:sp>
        <p:nvSpPr>
          <p:cNvPr id="67" name="Text 67"/>
          <p:cNvSpPr/>
          <p:nvPr/>
        </p:nvSpPr>
        <p:spPr>
          <a:xfrm>
            <a:off x="4713732" y="2843784"/>
            <a:ext cx="4082796" cy="256032"/>
          </a:xfrm>
          <a:prstGeom prst="rect">
            <a:avLst/>
          </a:prstGeom>
          <a:noFill/>
          <a:ln/>
        </p:spPr>
        <p:txBody>
          <a:bodyPr wrap="square" rtlCol="0" anchor="ctr"/>
          <a:lstStyle/>
          <a:p>
            <a:r>
              <a:rPr lang="en-US" sz="1050" b="1" dirty="0">
                <a:solidFill>
                  <a:srgbClr val="FFFFFF"/>
                </a:solidFill>
              </a:rPr>
              <a:t>02  </a:t>
            </a:r>
            <a:r>
              <a:rPr lang="en-US" sz="1050" b="1" dirty="0" err="1">
                <a:solidFill>
                  <a:srgbClr val="FFFFFF"/>
                </a:solidFill>
              </a:rPr>
              <a:t>XGBoost</a:t>
            </a:r>
            <a:r>
              <a:rPr lang="en-US" sz="1050" b="1" dirty="0">
                <a:solidFill>
                  <a:srgbClr val="FFFFFF"/>
                </a:solidFill>
              </a:rPr>
              <a:t> Ensemble</a:t>
            </a:r>
            <a:endParaRPr lang="en-US" sz="1050" dirty="0"/>
          </a:p>
        </p:txBody>
      </p:sp>
      <p:sp>
        <p:nvSpPr>
          <p:cNvPr id="68" name="Text 68"/>
          <p:cNvSpPr/>
          <p:nvPr/>
        </p:nvSpPr>
        <p:spPr>
          <a:xfrm>
            <a:off x="4713732" y="3127248"/>
            <a:ext cx="4082796" cy="201168"/>
          </a:xfrm>
          <a:prstGeom prst="rect">
            <a:avLst/>
          </a:prstGeom>
          <a:noFill/>
          <a:ln/>
        </p:spPr>
        <p:txBody>
          <a:bodyPr wrap="square" rtlCol="0" anchor="ctr"/>
          <a:lstStyle/>
          <a:p>
            <a:pPr marL="0" indent="0">
              <a:buNone/>
            </a:pPr>
            <a:r>
              <a:rPr lang="en-US" sz="850">
                <a:solidFill>
                  <a:srgbClr val="F59E0B"/>
                </a:solidFill>
                <a:latin typeface="Consolas" pitchFamily="34" charset="0"/>
                <a:ea typeface="Consolas" pitchFamily="34" charset="-122"/>
                <a:cs typeface="Consolas" pitchFamily="34" charset="-120"/>
              </a:rPr>
              <a:t>seeds 42, 123, 456 | sub=0.8</a:t>
            </a:r>
            <a:endParaRPr lang="en-US" sz="850"/>
          </a:p>
        </p:txBody>
      </p:sp>
      <p:sp>
        <p:nvSpPr>
          <p:cNvPr id="69" name="Text 69"/>
          <p:cNvSpPr/>
          <p:nvPr/>
        </p:nvSpPr>
        <p:spPr>
          <a:xfrm>
            <a:off x="4713732" y="3337560"/>
            <a:ext cx="4082796" cy="452628"/>
          </a:xfrm>
          <a:prstGeom prst="rect">
            <a:avLst/>
          </a:prstGeom>
          <a:noFill/>
          <a:ln/>
        </p:spPr>
        <p:txBody>
          <a:bodyPr wrap="square" rtlCol="0" anchor="t"/>
          <a:lstStyle/>
          <a:p>
            <a:r>
              <a:rPr lang="en-US" sz="900" dirty="0">
                <a:solidFill>
                  <a:srgbClr val="7F8C8D"/>
                </a:solidFill>
              </a:rPr>
              <a:t>Three models trained with different random seeds and data subsamples. Final prediction = average of the three models, reducing randomness and improving robustness.</a:t>
            </a:r>
          </a:p>
          <a:p>
            <a:pPr marL="0" indent="0">
              <a:buNone/>
            </a:pPr>
            <a:endParaRPr lang="en-US" sz="900" dirty="0"/>
          </a:p>
        </p:txBody>
      </p:sp>
      <p:sp>
        <p:nvSpPr>
          <p:cNvPr id="70" name="Shape 70"/>
          <p:cNvSpPr/>
          <p:nvPr/>
        </p:nvSpPr>
        <p:spPr>
          <a:xfrm>
            <a:off x="274320" y="395478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1" name="Shape 71"/>
          <p:cNvSpPr/>
          <p:nvPr/>
        </p:nvSpPr>
        <p:spPr>
          <a:xfrm>
            <a:off x="274320" y="3954780"/>
            <a:ext cx="4229100" cy="274320"/>
          </a:xfrm>
          <a:prstGeom prst="rect">
            <a:avLst/>
          </a:prstGeom>
          <a:solidFill>
            <a:srgbClr val="818CF8"/>
          </a:solidFill>
          <a:ln w="12700">
            <a:solidFill>
              <a:srgbClr val="818CF8"/>
            </a:solidFill>
            <a:prstDash val="solid"/>
          </a:ln>
        </p:spPr>
        <p:txBody>
          <a:bodyPr/>
          <a:lstStyle/>
          <a:p>
            <a:endParaRPr lang="en-US"/>
          </a:p>
        </p:txBody>
      </p:sp>
      <p:sp>
        <p:nvSpPr>
          <p:cNvPr id="72" name="Text 72"/>
          <p:cNvSpPr/>
          <p:nvPr/>
        </p:nvSpPr>
        <p:spPr>
          <a:xfrm>
            <a:off x="347472" y="3963924"/>
            <a:ext cx="4082796" cy="256032"/>
          </a:xfrm>
          <a:prstGeom prst="rect">
            <a:avLst/>
          </a:prstGeom>
          <a:noFill/>
          <a:ln/>
        </p:spPr>
        <p:txBody>
          <a:bodyPr wrap="square" rtlCol="0" anchor="ctr"/>
          <a:lstStyle/>
          <a:p>
            <a:r>
              <a:rPr lang="en-US" sz="1050" b="1" dirty="0">
                <a:solidFill>
                  <a:srgbClr val="FFFFFF"/>
                </a:solidFill>
              </a:rPr>
              <a:t>03  Rank + Capped value-weighting &amp; Microcap screen</a:t>
            </a:r>
            <a:endParaRPr lang="en-US" sz="1050" dirty="0"/>
          </a:p>
        </p:txBody>
      </p:sp>
      <p:sp>
        <p:nvSpPr>
          <p:cNvPr id="73" name="Text 73"/>
          <p:cNvSpPr/>
          <p:nvPr/>
        </p:nvSpPr>
        <p:spPr>
          <a:xfrm>
            <a:off x="347472" y="4247388"/>
            <a:ext cx="4082796" cy="201168"/>
          </a:xfrm>
          <a:prstGeom prst="rect">
            <a:avLst/>
          </a:prstGeom>
          <a:noFill/>
          <a:ln/>
        </p:spPr>
        <p:txBody>
          <a:bodyPr wrap="square" rtlCol="0" anchor="ctr"/>
          <a:lstStyle/>
          <a:p>
            <a:pPr marL="0" indent="0">
              <a:buNone/>
            </a:pPr>
            <a:r>
              <a:rPr lang="en-US" sz="850" dirty="0">
                <a:solidFill>
                  <a:srgbClr val="38BDF8"/>
                </a:solidFill>
                <a:latin typeface="Consolas" pitchFamily="34" charset="0"/>
                <a:ea typeface="Consolas" pitchFamily="34" charset="-122"/>
                <a:cs typeface="Consolas" pitchFamily="34" charset="-120"/>
              </a:rPr>
              <a:t>w_i ∝ rank(</a:t>
            </a:r>
            <a:r>
              <a:rPr lang="en-US" sz="850" dirty="0" err="1">
                <a:solidFill>
                  <a:srgbClr val="38BDF8"/>
                </a:solidFill>
                <a:latin typeface="Consolas" pitchFamily="34" charset="0"/>
                <a:ea typeface="Consolas" pitchFamily="34" charset="-122"/>
                <a:cs typeface="Consolas" pitchFamily="34" charset="-120"/>
              </a:rPr>
              <a:t>ŷ_i</a:t>
            </a:r>
            <a:r>
              <a:rPr lang="en-US" sz="850" dirty="0">
                <a:solidFill>
                  <a:srgbClr val="38BDF8"/>
                </a:solidFill>
                <a:latin typeface="Consolas" pitchFamily="34" charset="0"/>
                <a:ea typeface="Consolas" pitchFamily="34" charset="-122"/>
                <a:cs typeface="Consolas" pitchFamily="34" charset="-120"/>
              </a:rPr>
              <a:t>)</a:t>
            </a:r>
            <a:endParaRPr lang="en-US" sz="850" dirty="0"/>
          </a:p>
        </p:txBody>
      </p:sp>
      <p:sp>
        <p:nvSpPr>
          <p:cNvPr id="74" name="Text 74"/>
          <p:cNvSpPr/>
          <p:nvPr/>
        </p:nvSpPr>
        <p:spPr>
          <a:xfrm>
            <a:off x="347472" y="4457700"/>
            <a:ext cx="4082796" cy="452628"/>
          </a:xfrm>
          <a:prstGeom prst="rect">
            <a:avLst/>
          </a:prstGeom>
          <a:noFill/>
          <a:ln/>
        </p:spPr>
        <p:txBody>
          <a:bodyPr wrap="square" rtlCol="0" anchor="t"/>
          <a:lstStyle/>
          <a:p>
            <a:pPr marL="0" indent="0">
              <a:buNone/>
            </a:pPr>
            <a:endParaRPr lang="en-US" sz="900" dirty="0"/>
          </a:p>
        </p:txBody>
      </p:sp>
      <p:sp>
        <p:nvSpPr>
          <p:cNvPr id="75" name="Shape 75"/>
          <p:cNvSpPr/>
          <p:nvPr/>
        </p:nvSpPr>
        <p:spPr>
          <a:xfrm>
            <a:off x="4640580" y="3954780"/>
            <a:ext cx="4229100" cy="982980"/>
          </a:xfrm>
          <a:prstGeom prst="rect">
            <a:avLst/>
          </a:prstGeom>
          <a:solidFill>
            <a:srgbClr val="FFFFFF"/>
          </a:solidFill>
          <a:ln w="6350">
            <a:solidFill>
              <a:srgbClr val="D5E8F0"/>
            </a:solidFill>
            <a:prstDash val="solid"/>
          </a:ln>
          <a:effectLst>
            <a:outerShdw blurRad="101600" dist="38100" dir="8100000" algn="bl" rotWithShape="0">
              <a:srgbClr val="000000">
                <a:alpha val="12000"/>
              </a:srgbClr>
            </a:outerShdw>
          </a:effectLst>
        </p:spPr>
        <p:txBody>
          <a:bodyPr/>
          <a:lstStyle/>
          <a:p>
            <a:endParaRPr lang="en-US"/>
          </a:p>
        </p:txBody>
      </p:sp>
      <p:sp>
        <p:nvSpPr>
          <p:cNvPr id="76" name="Shape 76"/>
          <p:cNvSpPr/>
          <p:nvPr/>
        </p:nvSpPr>
        <p:spPr>
          <a:xfrm>
            <a:off x="4640580" y="3954780"/>
            <a:ext cx="4229100" cy="274320"/>
          </a:xfrm>
          <a:prstGeom prst="rect">
            <a:avLst/>
          </a:prstGeom>
          <a:solidFill>
            <a:srgbClr val="38BDF8"/>
          </a:solidFill>
          <a:ln w="12700">
            <a:solidFill>
              <a:srgbClr val="38BDF8"/>
            </a:solidFill>
            <a:prstDash val="solid"/>
          </a:ln>
        </p:spPr>
        <p:txBody>
          <a:bodyPr/>
          <a:lstStyle/>
          <a:p>
            <a:endParaRPr lang="en-US"/>
          </a:p>
        </p:txBody>
      </p:sp>
      <p:sp>
        <p:nvSpPr>
          <p:cNvPr id="77" name="Text 77"/>
          <p:cNvSpPr/>
          <p:nvPr/>
        </p:nvSpPr>
        <p:spPr>
          <a:xfrm>
            <a:off x="4713732" y="3963924"/>
            <a:ext cx="4082796" cy="256032"/>
          </a:xfrm>
          <a:prstGeom prst="rect">
            <a:avLst/>
          </a:prstGeom>
          <a:noFill/>
          <a:ln/>
        </p:spPr>
        <p:txBody>
          <a:bodyPr wrap="square" rtlCol="0" anchor="ctr"/>
          <a:lstStyle/>
          <a:p>
            <a:r>
              <a:rPr lang="en-US" sz="1050" b="1" dirty="0">
                <a:solidFill>
                  <a:srgbClr val="FFFFFF"/>
                </a:solidFill>
              </a:rPr>
              <a:t>04  Transaction costs on L1 weight change</a:t>
            </a:r>
            <a:endParaRPr lang="en-US" sz="1050" dirty="0"/>
          </a:p>
        </p:txBody>
      </p:sp>
      <p:sp>
        <p:nvSpPr>
          <p:cNvPr id="78" name="Text 78"/>
          <p:cNvSpPr/>
          <p:nvPr/>
        </p:nvSpPr>
        <p:spPr>
          <a:xfrm>
            <a:off x="4713732" y="4247388"/>
            <a:ext cx="4082796" cy="201168"/>
          </a:xfrm>
          <a:prstGeom prst="rect">
            <a:avLst/>
          </a:prstGeom>
          <a:noFill/>
          <a:ln/>
        </p:spPr>
        <p:txBody>
          <a:bodyPr wrap="square" rtlCol="0" anchor="ctr"/>
          <a:lstStyle/>
          <a:p>
            <a:pPr marL="0" indent="0">
              <a:buNone/>
            </a:pPr>
            <a:r>
              <a:rPr lang="en-US" sz="850" dirty="0">
                <a:solidFill>
                  <a:srgbClr val="38BDF8"/>
                </a:solidFill>
                <a:latin typeface="Consolas" pitchFamily="34" charset="0"/>
                <a:ea typeface="Consolas" pitchFamily="34" charset="-122"/>
                <a:cs typeface="Consolas" pitchFamily="34" charset="-120"/>
              </a:rPr>
              <a:t>TC = 10 bps × Σ|w_t − w_{t−1}|</a:t>
            </a:r>
            <a:endParaRPr lang="en-US" sz="850" dirty="0"/>
          </a:p>
        </p:txBody>
      </p:sp>
      <p:sp>
        <p:nvSpPr>
          <p:cNvPr id="79" name="Text 79"/>
          <p:cNvSpPr/>
          <p:nvPr/>
        </p:nvSpPr>
        <p:spPr>
          <a:xfrm>
            <a:off x="4713732" y="4457700"/>
            <a:ext cx="4082796" cy="452628"/>
          </a:xfrm>
          <a:prstGeom prst="rect">
            <a:avLst/>
          </a:prstGeom>
          <a:noFill/>
          <a:ln/>
        </p:spPr>
        <p:txBody>
          <a:bodyPr wrap="square" rtlCol="0" anchor="t"/>
          <a:lstStyle/>
          <a:p>
            <a:pPr marL="0" indent="0">
              <a:buNone/>
            </a:pPr>
            <a:r>
              <a:rPr lang="en-US" sz="900" dirty="0">
                <a:solidFill>
                  <a:srgbClr val="7F8C8D"/>
                </a:solidFill>
              </a:rPr>
              <a:t>Subtract 10 bps for every unit of turnover, where turnover is the sum of absolute weight changes vs. last month. </a:t>
            </a:r>
            <a:endParaRPr lang="en-US" sz="900" dirty="0"/>
          </a:p>
        </p:txBody>
      </p:sp>
      <p:sp>
        <p:nvSpPr>
          <p:cNvPr id="33" name="Text 64">
            <a:extLst>
              <a:ext uri="{FF2B5EF4-FFF2-40B4-BE49-F238E27FC236}">
                <a16:creationId xmlns:a16="http://schemas.microsoft.com/office/drawing/2014/main" id="{D1757FE7-E99A-B9B9-E828-69F43299690C}"/>
              </a:ext>
            </a:extLst>
          </p:cNvPr>
          <p:cNvSpPr/>
          <p:nvPr/>
        </p:nvSpPr>
        <p:spPr>
          <a:xfrm>
            <a:off x="324612" y="4430268"/>
            <a:ext cx="4082796" cy="452628"/>
          </a:xfrm>
          <a:prstGeom prst="rect">
            <a:avLst/>
          </a:prstGeom>
          <a:noFill/>
          <a:ln/>
        </p:spPr>
        <p:txBody>
          <a:bodyPr wrap="square" rtlCol="0" anchor="t"/>
          <a:lstStyle/>
          <a:p>
            <a:r>
              <a:rPr lang="en-US" sz="900" dirty="0">
                <a:solidFill>
                  <a:srgbClr val="7F8C8D"/>
                </a:solidFill>
              </a:rPr>
              <a:t>Stocks get weight proportional to their prediction rank. Larger market cap stocks get slightly more weight so the portfolio stays in liquid names. Microcap stocks, bottom 20 percent by market cap, are excluded.</a:t>
            </a:r>
            <a:endParaRPr lang="en-US" sz="900" dirty="0"/>
          </a:p>
        </p:txBody>
      </p:sp>
    </p:spTree>
    <p:extLst>
      <p:ext uri="{BB962C8B-B14F-4D97-AF65-F5344CB8AC3E}">
        <p14:creationId xmlns:p14="http://schemas.microsoft.com/office/powerpoint/2010/main" val="2058401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9728"/>
            <a:ext cx="8412480" cy="256032"/>
          </a:xfrm>
          <a:prstGeom prst="rect">
            <a:avLst/>
          </a:prstGeom>
          <a:noFill/>
          <a:ln/>
        </p:spPr>
        <p:txBody>
          <a:bodyPr wrap="square" rtlCol="0" anchor="ctr"/>
          <a:lstStyle/>
          <a:p>
            <a:r>
              <a:rPr lang="en-US" sz="800" b="1" kern="0" spc="300" dirty="0">
                <a:solidFill>
                  <a:srgbClr val="5D8AA8"/>
                </a:solidFill>
              </a:rPr>
              <a:t>PERFORMANCE</a:t>
            </a:r>
            <a:endParaRPr lang="en-US" sz="800" dirty="0"/>
          </a:p>
        </p:txBody>
      </p:sp>
      <p:sp>
        <p:nvSpPr>
          <p:cNvPr id="3" name="Text 1"/>
          <p:cNvSpPr/>
          <p:nvPr/>
        </p:nvSpPr>
        <p:spPr>
          <a:xfrm>
            <a:off x="365760" y="301752"/>
            <a:ext cx="8229600" cy="438912"/>
          </a:xfrm>
          <a:prstGeom prst="rect">
            <a:avLst/>
          </a:prstGeom>
          <a:noFill/>
          <a:ln/>
        </p:spPr>
        <p:txBody>
          <a:bodyPr wrap="square" rtlCol="0" anchor="ctr"/>
          <a:lstStyle/>
          <a:p>
            <a:pPr marL="0" indent="0">
              <a:buNone/>
            </a:pPr>
            <a:r>
              <a:rPr lang="en-US" sz="2400" b="1" dirty="0">
                <a:solidFill>
                  <a:srgbClr val="1A252F"/>
                </a:solidFill>
                <a:latin typeface="Calibri" pitchFamily="34" charset="0"/>
              </a:rPr>
              <a:t>Cumulative Returns: Strategy vs Benchmarks</a:t>
            </a:r>
          </a:p>
        </p:txBody>
      </p:sp>
      <p:pic>
        <p:nvPicPr>
          <p:cNvPr id="4" name="Picture 2"/>
          <p:cNvPicPr>
            <a:picLocks noChangeAspect="1"/>
          </p:cNvPicPr>
          <p:nvPr/>
        </p:nvPicPr>
        <p:blipFill>
          <a:blip r:embed="rId2"/>
          <a:stretch>
            <a:fillRect/>
          </a:stretch>
        </p:blipFill>
        <p:spPr>
          <a:xfrm>
            <a:off x="274320" y="822960"/>
            <a:ext cx="8595360" cy="410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09728"/>
            <a:ext cx="8412480" cy="256032"/>
          </a:xfrm>
          <a:prstGeom prst="rect">
            <a:avLst/>
          </a:prstGeom>
          <a:noFill/>
          <a:ln/>
        </p:spPr>
        <p:txBody>
          <a:bodyPr wrap="square" rtlCol="0" anchor="ctr"/>
          <a:lstStyle/>
          <a:p>
            <a:r>
              <a:rPr lang="en-US" sz="800" b="1" kern="0" spc="300" dirty="0">
                <a:solidFill>
                  <a:srgbClr val="5D8AA8"/>
                </a:solidFill>
              </a:rPr>
              <a:t>PERFORMANCE</a:t>
            </a:r>
            <a:endParaRPr lang="en-US" sz="800" dirty="0"/>
          </a:p>
        </p:txBody>
      </p:sp>
      <p:sp>
        <p:nvSpPr>
          <p:cNvPr id="3" name="Text 1"/>
          <p:cNvSpPr/>
          <p:nvPr/>
        </p:nvSpPr>
        <p:spPr>
          <a:xfrm>
            <a:off x="365760" y="301752"/>
            <a:ext cx="8229600" cy="438912"/>
          </a:xfrm>
          <a:prstGeom prst="rect">
            <a:avLst/>
          </a:prstGeom>
          <a:noFill/>
          <a:ln/>
        </p:spPr>
        <p:txBody>
          <a:bodyPr wrap="square" rtlCol="0" anchor="ctr"/>
          <a:lstStyle/>
          <a:p>
            <a:pPr marL="0" indent="0">
              <a:buNone/>
            </a:pPr>
            <a:r>
              <a:rPr lang="en-US" sz="2400" b="1" dirty="0">
                <a:solidFill>
                  <a:srgbClr val="1A252F"/>
                </a:solidFill>
                <a:latin typeface="Calibri" pitchFamily="34" charset="0"/>
              </a:rPr>
              <a:t>Drawdown: Strategy vs Benchmarks</a:t>
            </a:r>
          </a:p>
        </p:txBody>
      </p:sp>
      <p:pic>
        <p:nvPicPr>
          <p:cNvPr id="4" name="Picture 2"/>
          <p:cNvPicPr>
            <a:picLocks noChangeAspect="1"/>
          </p:cNvPicPr>
          <p:nvPr/>
        </p:nvPicPr>
        <p:blipFill>
          <a:blip r:embed="rId2"/>
          <a:stretch>
            <a:fillRect/>
          </a:stretch>
        </p:blipFill>
        <p:spPr>
          <a:xfrm>
            <a:off x="274320" y="822960"/>
            <a:ext cx="8595360" cy="410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109728"/>
            <a:ext cx="8412480" cy="201168"/>
          </a:xfrm>
          <a:prstGeom prst="rect">
            <a:avLst/>
          </a:prstGeom>
          <a:noFill/>
          <a:ln/>
        </p:spPr>
        <p:txBody>
          <a:bodyPr wrap="square" rtlCol="0" anchor="ctr"/>
          <a:lstStyle/>
          <a:p>
            <a:r>
              <a:rPr lang="en-US" sz="700" b="1" kern="0" spc="300" dirty="0">
                <a:solidFill>
                  <a:srgbClr val="5D8AA8"/>
                </a:solidFill>
              </a:rPr>
              <a:t>PROFITABILITY &amp; SUSTAINABILITY</a:t>
            </a:r>
            <a:r>
              <a:rPr lang="en-US" sz="750" b="1" kern="0" spc="400" dirty="0">
                <a:solidFill>
                  <a:schemeClr val="tx2">
                    <a:lumMod val="60000"/>
                    <a:lumOff val="40000"/>
                  </a:schemeClr>
                </a:solidFill>
                <a:latin typeface="Calibri" pitchFamily="34" charset="0"/>
                <a:ea typeface="Calibri" pitchFamily="34" charset="-122"/>
                <a:cs typeface="Calibri" pitchFamily="34" charset="-120"/>
              </a:rPr>
              <a:t> </a:t>
            </a:r>
            <a:endParaRPr lang="en-US" sz="750" dirty="0">
              <a:solidFill>
                <a:schemeClr val="tx2">
                  <a:lumMod val="60000"/>
                  <a:lumOff val="40000"/>
                </a:schemeClr>
              </a:solidFill>
            </a:endParaRPr>
          </a:p>
        </p:txBody>
      </p:sp>
      <p:sp>
        <p:nvSpPr>
          <p:cNvPr id="3" name="Text 1"/>
          <p:cNvSpPr/>
          <p:nvPr/>
        </p:nvSpPr>
        <p:spPr>
          <a:xfrm>
            <a:off x="365760" y="274320"/>
            <a:ext cx="8412480" cy="475488"/>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Strategy Decays Monotonically Since the 1990s</a:t>
            </a:r>
            <a:endParaRPr lang="en-US" sz="2200" dirty="0"/>
          </a:p>
        </p:txBody>
      </p:sp>
      <p:sp>
        <p:nvSpPr>
          <p:cNvPr id="4" name="Shape 2"/>
          <p:cNvSpPr/>
          <p:nvPr/>
        </p:nvSpPr>
        <p:spPr>
          <a:xfrm>
            <a:off x="274320"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5" name="Shape 3"/>
          <p:cNvSpPr/>
          <p:nvPr/>
        </p:nvSpPr>
        <p:spPr>
          <a:xfrm>
            <a:off x="274320" y="960120"/>
            <a:ext cx="2011680" cy="45720"/>
          </a:xfrm>
          <a:prstGeom prst="rect">
            <a:avLst/>
          </a:prstGeom>
          <a:solidFill>
            <a:srgbClr val="10B981"/>
          </a:solidFill>
          <a:ln w="12700">
            <a:solidFill>
              <a:srgbClr val="10B981"/>
            </a:solidFill>
            <a:prstDash val="solid"/>
          </a:ln>
        </p:spPr>
        <p:txBody>
          <a:bodyPr/>
          <a:lstStyle/>
          <a:p>
            <a:endParaRPr lang="en-US"/>
          </a:p>
        </p:txBody>
      </p:sp>
      <p:sp>
        <p:nvSpPr>
          <p:cNvPr id="6" name="Text 4"/>
          <p:cNvSpPr/>
          <p:nvPr/>
        </p:nvSpPr>
        <p:spPr>
          <a:xfrm>
            <a:off x="274320" y="1051560"/>
            <a:ext cx="2011680" cy="603504"/>
          </a:xfrm>
          <a:prstGeom prst="rect">
            <a:avLst/>
          </a:prstGeom>
          <a:noFill/>
          <a:ln/>
        </p:spPr>
        <p:txBody>
          <a:bodyPr wrap="square" lIns="0" tIns="0" rIns="0" bIns="0" rtlCol="0" anchor="ctr"/>
          <a:lstStyle/>
          <a:p>
            <a:pPr marL="0" indent="0" algn="ctr">
              <a:buNone/>
            </a:pPr>
            <a:r>
              <a:rPr lang="en-US" sz="2800" b="1" dirty="0">
                <a:solidFill>
                  <a:srgbClr val="10B981"/>
                </a:solidFill>
              </a:rPr>
              <a:t>0.72</a:t>
            </a:r>
            <a:endParaRPr lang="en-US" sz="2800" dirty="0"/>
          </a:p>
        </p:txBody>
      </p:sp>
      <p:sp>
        <p:nvSpPr>
          <p:cNvPr id="7" name="Text 5"/>
          <p:cNvSpPr/>
          <p:nvPr/>
        </p:nvSpPr>
        <p:spPr>
          <a:xfrm>
            <a:off x="274320" y="1627632"/>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Net Sharpe</a:t>
            </a:r>
            <a:endParaRPr lang="en-US" sz="950" dirty="0"/>
          </a:p>
          <a:p>
            <a:pPr marL="0" indent="0" algn="ctr">
              <a:buNone/>
            </a:pPr>
            <a:r>
              <a:rPr lang="en-US" sz="950" dirty="0">
                <a:solidFill>
                  <a:srgbClr val="94A3B8"/>
                </a:solidFill>
              </a:rPr>
              <a:t>(full sample)</a:t>
            </a:r>
            <a:endParaRPr lang="en-US" sz="950" dirty="0"/>
          </a:p>
        </p:txBody>
      </p:sp>
      <p:sp>
        <p:nvSpPr>
          <p:cNvPr id="8" name="Shape 6"/>
          <p:cNvSpPr/>
          <p:nvPr/>
        </p:nvSpPr>
        <p:spPr>
          <a:xfrm>
            <a:off x="2487168"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9" name="Shape 7"/>
          <p:cNvSpPr/>
          <p:nvPr/>
        </p:nvSpPr>
        <p:spPr>
          <a:xfrm>
            <a:off x="2487168" y="960120"/>
            <a:ext cx="2011680" cy="45720"/>
          </a:xfrm>
          <a:prstGeom prst="rect">
            <a:avLst/>
          </a:prstGeom>
          <a:solidFill>
            <a:srgbClr val="EF4444"/>
          </a:solidFill>
          <a:ln w="12700">
            <a:solidFill>
              <a:srgbClr val="EF4444"/>
            </a:solidFill>
            <a:prstDash val="solid"/>
          </a:ln>
        </p:spPr>
        <p:txBody>
          <a:bodyPr/>
          <a:lstStyle/>
          <a:p>
            <a:endParaRPr lang="en-US"/>
          </a:p>
        </p:txBody>
      </p:sp>
      <p:sp>
        <p:nvSpPr>
          <p:cNvPr id="10" name="Text 8"/>
          <p:cNvSpPr/>
          <p:nvPr/>
        </p:nvSpPr>
        <p:spPr>
          <a:xfrm>
            <a:off x="2487168" y="1051560"/>
            <a:ext cx="2011680" cy="603504"/>
          </a:xfrm>
          <a:prstGeom prst="rect">
            <a:avLst/>
          </a:prstGeom>
          <a:noFill/>
          <a:ln/>
        </p:spPr>
        <p:txBody>
          <a:bodyPr wrap="square" lIns="0" tIns="0" rIns="0" bIns="0" rtlCol="0" anchor="ctr"/>
          <a:lstStyle/>
          <a:p>
            <a:pPr marL="0" indent="0" algn="ctr">
              <a:buNone/>
            </a:pPr>
            <a:r>
              <a:rPr lang="en-US" sz="2800" b="1" dirty="0">
                <a:solidFill>
                  <a:srgbClr val="EF4444"/>
                </a:solidFill>
              </a:rPr>
              <a:t>−0.36</a:t>
            </a:r>
            <a:endParaRPr lang="en-US" sz="2800" dirty="0"/>
          </a:p>
        </p:txBody>
      </p:sp>
      <p:sp>
        <p:nvSpPr>
          <p:cNvPr id="11" name="Text 9"/>
          <p:cNvSpPr/>
          <p:nvPr/>
        </p:nvSpPr>
        <p:spPr>
          <a:xfrm>
            <a:off x="2487168" y="1627632"/>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Net Sharpe</a:t>
            </a:r>
            <a:endParaRPr lang="en-US" sz="950" dirty="0"/>
          </a:p>
          <a:p>
            <a:pPr marL="0" indent="0" algn="ctr">
              <a:buNone/>
            </a:pPr>
            <a:r>
              <a:rPr lang="en-US" sz="950" dirty="0">
                <a:solidFill>
                  <a:srgbClr val="94A3B8"/>
                </a:solidFill>
              </a:rPr>
              <a:t>(2020s)</a:t>
            </a:r>
            <a:endParaRPr lang="en-US" sz="950" dirty="0"/>
          </a:p>
        </p:txBody>
      </p:sp>
      <p:sp>
        <p:nvSpPr>
          <p:cNvPr id="12" name="Shape 10"/>
          <p:cNvSpPr/>
          <p:nvPr/>
        </p:nvSpPr>
        <p:spPr>
          <a:xfrm>
            <a:off x="4700016"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13" name="Shape 11"/>
          <p:cNvSpPr/>
          <p:nvPr/>
        </p:nvSpPr>
        <p:spPr>
          <a:xfrm>
            <a:off x="4700016" y="960120"/>
            <a:ext cx="2011680" cy="4572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4700016" y="1051560"/>
            <a:ext cx="2011680" cy="603504"/>
          </a:xfrm>
          <a:prstGeom prst="rect">
            <a:avLst/>
          </a:prstGeom>
          <a:noFill/>
          <a:ln/>
        </p:spPr>
        <p:txBody>
          <a:bodyPr wrap="square" lIns="0" tIns="0" rIns="0" bIns="0" rtlCol="0" anchor="ctr"/>
          <a:lstStyle/>
          <a:p>
            <a:pPr marL="0" indent="0" algn="ctr">
              <a:buNone/>
            </a:pPr>
            <a:r>
              <a:rPr lang="en-US" sz="2800" b="1" dirty="0">
                <a:solidFill>
                  <a:srgbClr val="F59E0B"/>
                </a:solidFill>
              </a:rPr>
              <a:t>0.064</a:t>
            </a:r>
            <a:endParaRPr lang="en-US" sz="2800" dirty="0"/>
          </a:p>
        </p:txBody>
      </p:sp>
      <p:sp>
        <p:nvSpPr>
          <p:cNvPr id="15" name="Text 13"/>
          <p:cNvSpPr/>
          <p:nvPr/>
        </p:nvSpPr>
        <p:spPr>
          <a:xfrm>
            <a:off x="4700016" y="1627632"/>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Mean IC</a:t>
            </a:r>
            <a:endParaRPr lang="en-US" sz="950" dirty="0"/>
          </a:p>
          <a:p>
            <a:pPr algn="ctr"/>
            <a:r>
              <a:rPr lang="en-US" sz="950" dirty="0">
                <a:solidFill>
                  <a:srgbClr val="94A3B8"/>
                </a:solidFill>
              </a:rPr>
              <a:t>(full sample)</a:t>
            </a:r>
            <a:endParaRPr lang="en-US" sz="950" dirty="0"/>
          </a:p>
        </p:txBody>
      </p:sp>
      <p:sp>
        <p:nvSpPr>
          <p:cNvPr id="16" name="Shape 14"/>
          <p:cNvSpPr/>
          <p:nvPr/>
        </p:nvSpPr>
        <p:spPr>
          <a:xfrm>
            <a:off x="6912864" y="960120"/>
            <a:ext cx="2011680" cy="111556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dirty="0"/>
          </a:p>
        </p:txBody>
      </p:sp>
      <p:sp>
        <p:nvSpPr>
          <p:cNvPr id="17" name="Shape 15"/>
          <p:cNvSpPr/>
          <p:nvPr/>
        </p:nvSpPr>
        <p:spPr>
          <a:xfrm>
            <a:off x="6912864" y="960120"/>
            <a:ext cx="2011680" cy="45720"/>
          </a:xfrm>
          <a:prstGeom prst="rect">
            <a:avLst/>
          </a:prstGeom>
          <a:solidFill>
            <a:srgbClr val="3B82F6"/>
          </a:solidFill>
          <a:ln w="12700">
            <a:solidFill>
              <a:srgbClr val="3B82F6"/>
            </a:solidFill>
            <a:prstDash val="solid"/>
          </a:ln>
        </p:spPr>
        <p:txBody>
          <a:bodyPr/>
          <a:lstStyle/>
          <a:p>
            <a:endParaRPr lang="en-US" dirty="0"/>
          </a:p>
        </p:txBody>
      </p:sp>
      <p:sp>
        <p:nvSpPr>
          <p:cNvPr id="18" name="Text 16"/>
          <p:cNvSpPr/>
          <p:nvPr/>
        </p:nvSpPr>
        <p:spPr>
          <a:xfrm>
            <a:off x="6912864" y="1051560"/>
            <a:ext cx="2011680" cy="603504"/>
          </a:xfrm>
          <a:prstGeom prst="rect">
            <a:avLst/>
          </a:prstGeom>
          <a:noFill/>
          <a:ln/>
        </p:spPr>
        <p:txBody>
          <a:bodyPr wrap="square" lIns="0" tIns="0" rIns="0" bIns="0" rtlCol="0" anchor="ctr"/>
          <a:lstStyle/>
          <a:p>
            <a:pPr marL="0" indent="0" algn="ctr">
              <a:buNone/>
            </a:pPr>
            <a:r>
              <a:rPr lang="en-US" sz="2800" b="1">
                <a:solidFill>
                  <a:srgbClr val="3B82F6"/>
                </a:solidFill>
              </a:rPr>
              <a:t>56.9%</a:t>
            </a:r>
            <a:endParaRPr lang="en-US" sz="2800" dirty="0"/>
          </a:p>
        </p:txBody>
      </p:sp>
      <p:sp>
        <p:nvSpPr>
          <p:cNvPr id="19" name="Text 17"/>
          <p:cNvSpPr/>
          <p:nvPr/>
        </p:nvSpPr>
        <p:spPr>
          <a:xfrm>
            <a:off x="6912864" y="1682496"/>
            <a:ext cx="2011680" cy="402336"/>
          </a:xfrm>
          <a:prstGeom prst="rect">
            <a:avLst/>
          </a:prstGeom>
          <a:noFill/>
          <a:ln/>
        </p:spPr>
        <p:txBody>
          <a:bodyPr wrap="square" lIns="0" tIns="0" rIns="0" bIns="0" rtlCol="0" anchor="ctr"/>
          <a:lstStyle/>
          <a:p>
            <a:pPr marL="0" indent="0" algn="ctr">
              <a:buNone/>
            </a:pPr>
            <a:r>
              <a:rPr lang="en-US" sz="950" dirty="0">
                <a:solidFill>
                  <a:srgbClr val="94A3B8"/>
                </a:solidFill>
              </a:rPr>
              <a:t>Win Rate</a:t>
            </a:r>
          </a:p>
          <a:p>
            <a:pPr marL="0" indent="0" algn="ctr">
              <a:buNone/>
            </a:pPr>
            <a:r>
              <a:rPr lang="en-US" sz="950" dirty="0">
                <a:solidFill>
                  <a:srgbClr val="94A3B8"/>
                </a:solidFill>
              </a:rPr>
              <a:t>(full Sample)</a:t>
            </a:r>
          </a:p>
          <a:p>
            <a:pPr marL="0" indent="0" algn="ctr">
              <a:buNone/>
            </a:pP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779936730"/>
              </p:ext>
            </p:extLst>
          </p:nvPr>
        </p:nvGraphicFramePr>
        <p:xfrm>
          <a:off x="274320" y="2231136"/>
          <a:ext cx="5029200" cy="257861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15722">
                <a:tc>
                  <a:txBody>
                    <a:bodyPr/>
                    <a:lstStyle/>
                    <a:p>
                      <a:pPr marL="0" indent="0" algn="ctr">
                        <a:buNone/>
                      </a:pPr>
                      <a:r>
                        <a:rPr lang="en-US" sz="1150" b="1" dirty="0">
                          <a:solidFill>
                            <a:srgbClr val="FFFFFF"/>
                          </a:solidFill>
                        </a:rPr>
                        <a:t>Period</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50" b="1" dirty="0">
                          <a:solidFill>
                            <a:srgbClr val="FFFFFF"/>
                          </a:solidFill>
                        </a:rPr>
                        <a:t>Net Sharpe</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50" b="1" dirty="0">
                          <a:solidFill>
                            <a:srgbClr val="FFFFFF"/>
                          </a:solidFill>
                        </a:rPr>
                        <a:t>Mean IC</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lgn="ctr">
                        <a:buNone/>
                      </a:pPr>
                      <a:r>
                        <a:rPr lang="en-US" sz="1150" b="1" dirty="0">
                          <a:solidFill>
                            <a:srgbClr val="FFFFFF"/>
                          </a:solidFill>
                        </a:rPr>
                        <a:t>Signal</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extLst>
                  <a:ext uri="{0D108BD9-81ED-4DB2-BD59-A6C34878D82A}">
                    <a16:rowId xmlns:a16="http://schemas.microsoft.com/office/drawing/2014/main" val="10000"/>
                  </a:ext>
                </a:extLst>
              </a:tr>
              <a:tr h="515722">
                <a:tc>
                  <a:txBody>
                    <a:bodyPr/>
                    <a:lstStyle/>
                    <a:p>
                      <a:pPr marL="0" indent="0" algn="ctr">
                        <a:buNone/>
                      </a:pPr>
                      <a:r>
                        <a:rPr lang="en-US" sz="1150" dirty="0">
                          <a:solidFill>
                            <a:srgbClr val="475569"/>
                          </a:solidFill>
                        </a:rPr>
                        <a:t>1990s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b="1" dirty="0">
                          <a:solidFill>
                            <a:srgbClr val="059669"/>
                          </a:solidFill>
                        </a:rPr>
                        <a:t>1.54</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475569"/>
                          </a:solidFill>
                        </a:rPr>
                        <a:t>0.080</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059669"/>
                          </a:solidFill>
                        </a:rPr>
                        <a:t>Strong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15722">
                <a:tc>
                  <a:txBody>
                    <a:bodyPr/>
                    <a:lstStyle/>
                    <a:p>
                      <a:pPr marL="0" indent="0" algn="ctr">
                        <a:buNone/>
                      </a:pPr>
                      <a:r>
                        <a:rPr lang="en-US" sz="1150" dirty="0">
                          <a:solidFill>
                            <a:srgbClr val="475569"/>
                          </a:solidFill>
                        </a:rPr>
                        <a:t>2000s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b="1" dirty="0">
                          <a:solidFill>
                            <a:srgbClr val="0284C7"/>
                          </a:solidFill>
                        </a:rPr>
                        <a:t>0.78</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475569"/>
                          </a:solidFill>
                        </a:rPr>
                        <a:t>0.070</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0284C7"/>
                          </a:solidFill>
                        </a:rPr>
                        <a:t>Good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15722">
                <a:tc>
                  <a:txBody>
                    <a:bodyPr/>
                    <a:lstStyle/>
                    <a:p>
                      <a:pPr marL="0" indent="0" algn="ctr">
                        <a:buNone/>
                      </a:pPr>
                      <a:r>
                        <a:rPr lang="en-US" sz="1150" dirty="0">
                          <a:solidFill>
                            <a:srgbClr val="475569"/>
                          </a:solidFill>
                        </a:rPr>
                        <a:t>2010s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b="1" dirty="0">
                          <a:solidFill>
                            <a:srgbClr val="F59E0B"/>
                          </a:solidFill>
                        </a:rPr>
                        <a:t>0.59</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475569"/>
                          </a:solidFill>
                        </a:rPr>
                        <a:t>0.054</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50" dirty="0">
                          <a:solidFill>
                            <a:srgbClr val="F59E0B"/>
                          </a:solidFill>
                        </a:rPr>
                        <a:t>Fading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15722">
                <a:tc>
                  <a:txBody>
                    <a:bodyPr/>
                    <a:lstStyle/>
                    <a:p>
                      <a:pPr marL="0" indent="0" algn="ctr">
                        <a:buNone/>
                      </a:pPr>
                      <a:r>
                        <a:rPr lang="en-US" sz="1150" dirty="0">
                          <a:solidFill>
                            <a:srgbClr val="475569"/>
                          </a:solidFill>
                        </a:rPr>
                        <a:t>2020s</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50" b="1" dirty="0">
                          <a:solidFill>
                            <a:srgbClr val="DC2626"/>
                          </a:solidFill>
                        </a:rPr>
                        <a:t>−0.36</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50" dirty="0">
                          <a:solidFill>
                            <a:srgbClr val="475569"/>
                          </a:solidFill>
                        </a:rPr>
                        <a:t>0.036</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150" dirty="0">
                          <a:solidFill>
                            <a:srgbClr val="DC2626"/>
                          </a:solidFill>
                        </a:rPr>
                        <a:t>Dead ✗</a:t>
                      </a:r>
                      <a:endParaRPr lang="en-US" sz="11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4"/>
                  </a:ext>
                </a:extLst>
              </a:tr>
            </a:tbl>
          </a:graphicData>
        </a:graphic>
      </p:graphicFrame>
      <p:sp>
        <p:nvSpPr>
          <p:cNvPr id="21" name="Shape 18"/>
          <p:cNvSpPr/>
          <p:nvPr/>
        </p:nvSpPr>
        <p:spPr>
          <a:xfrm>
            <a:off x="5577840" y="2231136"/>
            <a:ext cx="3291840" cy="257860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22" name="Shape 19"/>
          <p:cNvSpPr/>
          <p:nvPr/>
        </p:nvSpPr>
        <p:spPr>
          <a:xfrm>
            <a:off x="5577840" y="2231136"/>
            <a:ext cx="3291840" cy="45720"/>
          </a:xfrm>
          <a:prstGeom prst="rect">
            <a:avLst/>
          </a:prstGeom>
          <a:solidFill>
            <a:srgbClr val="EF4444"/>
          </a:solidFill>
          <a:ln w="12700">
            <a:solidFill>
              <a:srgbClr val="EF4444"/>
            </a:solidFill>
            <a:prstDash val="solid"/>
          </a:ln>
        </p:spPr>
        <p:txBody>
          <a:bodyPr/>
          <a:lstStyle/>
          <a:p>
            <a:endParaRPr lang="en-US"/>
          </a:p>
        </p:txBody>
      </p:sp>
      <p:sp>
        <p:nvSpPr>
          <p:cNvPr id="23" name="Text 20"/>
          <p:cNvSpPr/>
          <p:nvPr/>
        </p:nvSpPr>
        <p:spPr>
          <a:xfrm>
            <a:off x="5715000" y="2340864"/>
            <a:ext cx="3017520" cy="310896"/>
          </a:xfrm>
          <a:prstGeom prst="rect">
            <a:avLst/>
          </a:prstGeom>
          <a:noFill/>
          <a:ln/>
        </p:spPr>
        <p:txBody>
          <a:bodyPr wrap="square" rtlCol="0" anchor="ctr"/>
          <a:lstStyle/>
          <a:p>
            <a:pPr marL="0" indent="0">
              <a:buNone/>
            </a:pPr>
            <a:r>
              <a:rPr lang="en-US" sz="1200" b="1" dirty="0">
                <a:solidFill>
                  <a:srgbClr val="1E293B"/>
                </a:solidFill>
              </a:rPr>
              <a:t>Why It Stopped</a:t>
            </a:r>
            <a:endParaRPr lang="en-US" sz="1200" dirty="0"/>
          </a:p>
        </p:txBody>
      </p:sp>
      <p:sp>
        <p:nvSpPr>
          <p:cNvPr id="24" name="Text 21"/>
          <p:cNvSpPr/>
          <p:nvPr/>
        </p:nvSpPr>
        <p:spPr>
          <a:xfrm>
            <a:off x="5715000" y="2697480"/>
            <a:ext cx="3017520" cy="2011680"/>
          </a:xfrm>
          <a:prstGeom prst="rect">
            <a:avLst/>
          </a:prstGeom>
          <a:noFill/>
          <a:ln/>
        </p:spPr>
        <p:txBody>
          <a:bodyPr wrap="square" rtlCol="0" anchor="ctr"/>
          <a:lstStyle/>
          <a:p>
            <a:pPr marL="0" indent="0">
              <a:buNone/>
            </a:pPr>
            <a:r>
              <a:rPr lang="en-US" sz="1050" b="1" dirty="0">
                <a:solidFill>
                  <a:srgbClr val="1E293B"/>
                </a:solidFill>
              </a:rPr>
              <a:t>Momentum + reversal + value/quality</a:t>
            </a:r>
            <a:r>
              <a:rPr lang="en-US" sz="1050" dirty="0">
                <a:solidFill>
                  <a:srgbClr val="475569"/>
                </a:solidFill>
              </a:rPr>
              <a:t> are the </a:t>
            </a:r>
            <a:r>
              <a:rPr lang="en-US" sz="1050" b="1" dirty="0">
                <a:solidFill>
                  <a:srgbClr val="DC2626"/>
                </a:solidFill>
              </a:rPr>
              <a:t>most published, most replicated, most traded</a:t>
            </a:r>
            <a:r>
              <a:rPr lang="en-US" sz="1050" dirty="0">
                <a:solidFill>
                  <a:srgbClr val="475569"/>
                </a:solidFill>
              </a:rPr>
              <a:t> factors in quant finance.</a:t>
            </a:r>
            <a:endParaRPr lang="en-US" sz="1050" dirty="0"/>
          </a:p>
          <a:p>
            <a:pPr marL="0" indent="0">
              <a:buNone/>
            </a:pPr>
            <a:endParaRPr lang="en-US" sz="1050" dirty="0"/>
          </a:p>
          <a:p>
            <a:pPr marL="0" indent="0">
              <a:buNone/>
            </a:pPr>
            <a:r>
              <a:rPr lang="en-US" sz="1050" dirty="0">
                <a:solidFill>
                  <a:srgbClr val="475569"/>
                </a:solidFill>
              </a:rPr>
              <a:t>Post-2010, as quant AUM exploded, these signals were arbitraged away. IC decays 0.080 → 0.036. The strategy is a victim of its own transparency.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365760" y="109728"/>
            <a:ext cx="8412480" cy="201168"/>
          </a:xfrm>
          <a:prstGeom prst="rect">
            <a:avLst/>
          </a:prstGeom>
          <a:noFill/>
          <a:ln/>
        </p:spPr>
        <p:txBody>
          <a:bodyPr wrap="square" rtlCol="0" anchor="ctr"/>
          <a:lstStyle/>
          <a:p>
            <a:r>
              <a:rPr lang="en-US" sz="800" b="1" kern="0" spc="300" dirty="0">
                <a:solidFill>
                  <a:srgbClr val="5D8AA8"/>
                </a:solidFill>
              </a:rPr>
              <a:t>Transection costs</a:t>
            </a:r>
            <a:endParaRPr lang="en-US" sz="800" dirty="0">
              <a:solidFill>
                <a:schemeClr val="tx2">
                  <a:lumMod val="60000"/>
                  <a:lumOff val="40000"/>
                </a:schemeClr>
              </a:solidFill>
            </a:endParaRPr>
          </a:p>
        </p:txBody>
      </p:sp>
      <p:sp>
        <p:nvSpPr>
          <p:cNvPr id="3" name="title"/>
          <p:cNvSpPr/>
          <p:nvPr/>
        </p:nvSpPr>
        <p:spPr>
          <a:xfrm>
            <a:off x="365760" y="274320"/>
            <a:ext cx="8229600" cy="420000"/>
          </a:xfrm>
          <a:prstGeom prst="rect">
            <a:avLst/>
          </a:prstGeom>
          <a:noFill/>
          <a:ln/>
        </p:spPr>
        <p:txBody>
          <a:bodyPr wrap="square" rtlCol="0" anchor="ctr"/>
          <a:lstStyle/>
          <a:p>
            <a:pPr marL="0" indent="0">
              <a:buNone/>
            </a:pPr>
            <a:r>
              <a:rPr lang="en-US" sz="2400" b="1" dirty="0">
                <a:solidFill>
                  <a:srgbClr val="0F172A"/>
                </a:solidFill>
                <a:latin typeface="Calibri" pitchFamily="34" charset="0"/>
              </a:rPr>
              <a:t>Gross vs Net — Cost of Turnover</a:t>
            </a:r>
          </a:p>
        </p:txBody>
      </p:sp>
      <p:pic>
        <p:nvPicPr>
          <p:cNvPr id="4" name="gross_net_chart"/>
          <p:cNvPicPr>
            <a:picLocks noChangeAspect="1"/>
          </p:cNvPicPr>
          <p:nvPr/>
        </p:nvPicPr>
        <p:blipFill>
          <a:blip r:embed="rId2"/>
          <a:stretch>
            <a:fillRect/>
          </a:stretch>
        </p:blipFill>
        <p:spPr>
          <a:xfrm>
            <a:off x="274320" y="777240"/>
            <a:ext cx="6400080" cy="3931920"/>
          </a:xfrm>
          <a:prstGeom prst="rect">
            <a:avLst/>
          </a:prstGeom>
          <a:ln w="6350">
            <a:solidFill>
              <a:srgbClr val="E2E8F0"/>
            </a:solidFill>
          </a:ln>
          <a:effectLst>
            <a:outerShdw blurRad="152400" dist="25400" dir="8100000" algn="bl" rotWithShape="0">
              <a:srgbClr val="0F172A">
                <a:alpha val="7000"/>
              </a:srgbClr>
            </a:outerShdw>
          </a:effectLst>
        </p:spPr>
      </p:pic>
      <p:sp>
        <p:nvSpPr>
          <p:cNvPr id="10" name="c1bg"/>
          <p:cNvSpPr/>
          <p:nvPr/>
        </p:nvSpPr>
        <p:spPr>
          <a:xfrm>
            <a:off x="6858000" y="777240"/>
            <a:ext cx="1920240" cy="914400"/>
          </a:xfrm>
          <a:prstGeom prst="rect">
            <a:avLst/>
          </a:prstGeom>
          <a:solidFill>
            <a:srgbClr val="FFFFFF"/>
          </a:solidFill>
          <a:ln w="6350">
            <a:solidFill>
              <a:srgbClr val="E2E8F0"/>
            </a:solidFill>
          </a:ln>
          <a:effectLst>
            <a:outerShdw blurRad="91440" dist="18288" dir="8100000" algn="bl" rotWithShape="0">
              <a:srgbClr val="0F172A">
                <a:alpha val="5000"/>
              </a:srgbClr>
            </a:outerShdw>
          </a:effectLst>
        </p:spPr>
        <p:txBody>
          <a:bodyPr/>
          <a:lstStyle/>
          <a:p>
            <a:endParaRPr lang="en-US"/>
          </a:p>
        </p:txBody>
      </p:sp>
      <p:sp>
        <p:nvSpPr>
          <p:cNvPr id="11" name="c1bar"/>
          <p:cNvSpPr/>
          <p:nvPr/>
        </p:nvSpPr>
        <p:spPr>
          <a:xfrm>
            <a:off x="6858000" y="777240"/>
            <a:ext cx="1920240" cy="45720"/>
          </a:xfrm>
          <a:prstGeom prst="rect">
            <a:avLst/>
          </a:prstGeom>
          <a:solidFill>
            <a:srgbClr val="2563EB"/>
          </a:solidFill>
          <a:ln>
            <a:solidFill>
              <a:srgbClr val="2563EB"/>
            </a:solidFill>
          </a:ln>
        </p:spPr>
        <p:txBody>
          <a:bodyPr/>
          <a:lstStyle/>
          <a:p>
            <a:endParaRPr lang="en-US"/>
          </a:p>
        </p:txBody>
      </p:sp>
      <p:sp>
        <p:nvSpPr>
          <p:cNvPr id="12" name="c1txt"/>
          <p:cNvSpPr/>
          <p:nvPr/>
        </p:nvSpPr>
        <p:spPr>
          <a:xfrm>
            <a:off x="6858000" y="777240"/>
            <a:ext cx="1920240" cy="914400"/>
          </a:xfrm>
          <a:prstGeom prst="rect">
            <a:avLst/>
          </a:prstGeom>
          <a:noFill/>
          <a:ln/>
        </p:spPr>
        <p:txBody>
          <a:bodyPr wrap="square" lIns="91440" tIns="91440" rIns="91440" bIns="0" rtlCol="0" anchor="t"/>
          <a:lstStyle/>
          <a:p>
            <a:pPr marL="0" indent="0" algn="ctr">
              <a:buNone/>
            </a:pPr>
            <a:r>
              <a:rPr lang="en-US" sz="2400" b="1" dirty="0">
                <a:solidFill>
                  <a:srgbClr val="2563EB"/>
                </a:solidFill>
                <a:latin typeface="Calibri"/>
              </a:rPr>
              <a:t>0.921</a:t>
            </a:r>
          </a:p>
          <a:p>
            <a:pPr marL="0" indent="0" algn="ctr">
              <a:buNone/>
            </a:pPr>
            <a:r>
              <a:rPr lang="en-US" sz="900" dirty="0">
                <a:solidFill>
                  <a:srgbClr val="94A3B8"/>
                </a:solidFill>
              </a:rPr>
              <a:t>Gross Sharpe</a:t>
            </a:r>
          </a:p>
          <a:p>
            <a:pPr marL="0" indent="0" algn="ctr">
              <a:buNone/>
            </a:pPr>
            <a:r>
              <a:rPr lang="en-US" sz="900" dirty="0">
                <a:solidFill>
                  <a:srgbClr val="94A3B8"/>
                </a:solidFill>
              </a:rPr>
              <a:t>Ann. ret. 13.03%</a:t>
            </a:r>
          </a:p>
        </p:txBody>
      </p:sp>
      <p:sp>
        <p:nvSpPr>
          <p:cNvPr id="20" name="c2bg"/>
          <p:cNvSpPr/>
          <p:nvPr/>
        </p:nvSpPr>
        <p:spPr>
          <a:xfrm>
            <a:off x="6858000" y="1737360"/>
            <a:ext cx="1920240" cy="914400"/>
          </a:xfrm>
          <a:prstGeom prst="rect">
            <a:avLst/>
          </a:prstGeom>
          <a:solidFill>
            <a:srgbClr val="FFFFFF"/>
          </a:solidFill>
          <a:ln w="6350">
            <a:solidFill>
              <a:srgbClr val="E2E8F0"/>
            </a:solidFill>
          </a:ln>
          <a:effectLst>
            <a:outerShdw blurRad="91440" dist="18288" dir="8100000" algn="bl" rotWithShape="0">
              <a:srgbClr val="0F172A">
                <a:alpha val="5000"/>
              </a:srgbClr>
            </a:outerShdw>
          </a:effectLst>
        </p:spPr>
        <p:txBody>
          <a:bodyPr/>
          <a:lstStyle/>
          <a:p>
            <a:endParaRPr lang="en-US"/>
          </a:p>
        </p:txBody>
      </p:sp>
      <p:sp>
        <p:nvSpPr>
          <p:cNvPr id="21" name="c2bar"/>
          <p:cNvSpPr/>
          <p:nvPr/>
        </p:nvSpPr>
        <p:spPr>
          <a:xfrm>
            <a:off x="6858000" y="1737360"/>
            <a:ext cx="1920240" cy="45720"/>
          </a:xfrm>
          <a:prstGeom prst="rect">
            <a:avLst/>
          </a:prstGeom>
          <a:solidFill>
            <a:srgbClr val="10B981"/>
          </a:solidFill>
          <a:ln>
            <a:solidFill>
              <a:srgbClr val="10B981"/>
            </a:solidFill>
          </a:ln>
        </p:spPr>
        <p:txBody>
          <a:bodyPr/>
          <a:lstStyle/>
          <a:p>
            <a:endParaRPr lang="en-US"/>
          </a:p>
        </p:txBody>
      </p:sp>
      <p:sp>
        <p:nvSpPr>
          <p:cNvPr id="22" name="c2txt"/>
          <p:cNvSpPr/>
          <p:nvPr/>
        </p:nvSpPr>
        <p:spPr>
          <a:xfrm>
            <a:off x="6858000" y="1737360"/>
            <a:ext cx="1920240" cy="914400"/>
          </a:xfrm>
          <a:prstGeom prst="rect">
            <a:avLst/>
          </a:prstGeom>
          <a:noFill/>
          <a:ln/>
        </p:spPr>
        <p:txBody>
          <a:bodyPr wrap="square" lIns="91440" tIns="91440" rIns="91440" bIns="0" rtlCol="0" anchor="t"/>
          <a:lstStyle/>
          <a:p>
            <a:pPr marL="0" indent="0" algn="ctr">
              <a:buNone/>
            </a:pPr>
            <a:r>
              <a:rPr lang="en-US" sz="2400" b="1" dirty="0">
                <a:solidFill>
                  <a:srgbClr val="10B981"/>
                </a:solidFill>
                <a:latin typeface="Calibri"/>
              </a:rPr>
              <a:t>0.722</a:t>
            </a:r>
          </a:p>
          <a:p>
            <a:pPr marL="0" indent="0" algn="ctr">
              <a:buNone/>
            </a:pPr>
            <a:r>
              <a:rPr lang="en-US" sz="900" dirty="0">
                <a:solidFill>
                  <a:srgbClr val="94A3B8"/>
                </a:solidFill>
              </a:rPr>
              <a:t>Net Sharpe</a:t>
            </a:r>
          </a:p>
          <a:p>
            <a:pPr marL="0" indent="0" algn="ctr">
              <a:buNone/>
            </a:pPr>
            <a:r>
              <a:rPr lang="en-US" sz="900" dirty="0">
                <a:solidFill>
                  <a:srgbClr val="94A3B8"/>
                </a:solidFill>
              </a:rPr>
              <a:t>Ann. ret. 10.21%</a:t>
            </a:r>
          </a:p>
        </p:txBody>
      </p:sp>
      <p:sp>
        <p:nvSpPr>
          <p:cNvPr id="30" name="c3bg"/>
          <p:cNvSpPr/>
          <p:nvPr/>
        </p:nvSpPr>
        <p:spPr>
          <a:xfrm>
            <a:off x="6858000" y="2697480"/>
            <a:ext cx="1920240" cy="914400"/>
          </a:xfrm>
          <a:prstGeom prst="rect">
            <a:avLst/>
          </a:prstGeom>
          <a:solidFill>
            <a:srgbClr val="FFFFFF"/>
          </a:solidFill>
          <a:ln w="6350">
            <a:solidFill>
              <a:srgbClr val="E2E8F0"/>
            </a:solidFill>
          </a:ln>
          <a:effectLst>
            <a:outerShdw blurRad="91440" dist="18288" dir="8100000" algn="bl" rotWithShape="0">
              <a:srgbClr val="0F172A">
                <a:alpha val="5000"/>
              </a:srgbClr>
            </a:outerShdw>
          </a:effectLst>
        </p:spPr>
        <p:txBody>
          <a:bodyPr/>
          <a:lstStyle/>
          <a:p>
            <a:endParaRPr lang="en-US"/>
          </a:p>
        </p:txBody>
      </p:sp>
      <p:sp>
        <p:nvSpPr>
          <p:cNvPr id="31" name="c3bar"/>
          <p:cNvSpPr/>
          <p:nvPr/>
        </p:nvSpPr>
        <p:spPr>
          <a:xfrm>
            <a:off x="6858000" y="2697480"/>
            <a:ext cx="1920240" cy="45720"/>
          </a:xfrm>
          <a:prstGeom prst="rect">
            <a:avLst/>
          </a:prstGeom>
          <a:solidFill>
            <a:srgbClr val="DC2626"/>
          </a:solidFill>
          <a:ln>
            <a:solidFill>
              <a:srgbClr val="DC2626"/>
            </a:solidFill>
          </a:ln>
        </p:spPr>
        <p:txBody>
          <a:bodyPr/>
          <a:lstStyle/>
          <a:p>
            <a:endParaRPr lang="en-US"/>
          </a:p>
        </p:txBody>
      </p:sp>
      <p:sp>
        <p:nvSpPr>
          <p:cNvPr id="32" name="c3txt"/>
          <p:cNvSpPr/>
          <p:nvPr/>
        </p:nvSpPr>
        <p:spPr>
          <a:xfrm>
            <a:off x="6858000" y="2697480"/>
            <a:ext cx="1920240" cy="914400"/>
          </a:xfrm>
          <a:prstGeom prst="rect">
            <a:avLst/>
          </a:prstGeom>
          <a:noFill/>
          <a:ln/>
        </p:spPr>
        <p:txBody>
          <a:bodyPr wrap="square" lIns="91440" tIns="91440" rIns="91440" bIns="0" rtlCol="0" anchor="t"/>
          <a:lstStyle/>
          <a:p>
            <a:pPr marL="0" indent="0" algn="ctr">
              <a:buNone/>
            </a:pPr>
            <a:r>
              <a:rPr lang="en-US" sz="2400" b="1" dirty="0">
                <a:solidFill>
                  <a:srgbClr val="DC2626"/>
                </a:solidFill>
                <a:latin typeface="Calibri"/>
              </a:rPr>
              <a:t>0.199</a:t>
            </a:r>
          </a:p>
          <a:p>
            <a:pPr marL="0" indent="0" algn="ctr">
              <a:buNone/>
            </a:pPr>
            <a:r>
              <a:rPr lang="en-US" sz="900" dirty="0">
                <a:solidFill>
                  <a:srgbClr val="94A3B8"/>
                </a:solidFill>
              </a:rPr>
              <a:t>TC Drag (Sharpe)</a:t>
            </a:r>
          </a:p>
          <a:p>
            <a:pPr marL="0" indent="0" algn="ctr">
              <a:buNone/>
            </a:pPr>
            <a:r>
              <a:rPr lang="en-US" sz="900" dirty="0">
                <a:solidFill>
                  <a:srgbClr val="94A3B8"/>
                </a:solidFill>
              </a:rPr>
              <a:t>~2.8% p.a. cost</a:t>
            </a:r>
          </a:p>
        </p:txBody>
      </p:sp>
      <p:sp>
        <p:nvSpPr>
          <p:cNvPr id="40" name="c4bg"/>
          <p:cNvSpPr/>
          <p:nvPr/>
        </p:nvSpPr>
        <p:spPr>
          <a:xfrm>
            <a:off x="6858000" y="3657600"/>
            <a:ext cx="1920240" cy="1051560"/>
          </a:xfrm>
          <a:prstGeom prst="rect">
            <a:avLst/>
          </a:prstGeom>
          <a:solidFill>
            <a:srgbClr val="1E293B"/>
          </a:solidFill>
          <a:ln w="6350">
            <a:solidFill>
              <a:srgbClr val="334155"/>
            </a:solidFill>
          </a:ln>
          <a:effectLst>
            <a:outerShdw blurRad="91440" dist="18288" dir="8100000" algn="bl" rotWithShape="0">
              <a:srgbClr val="0F172A">
                <a:alpha val="5000"/>
              </a:srgbClr>
            </a:outerShdw>
          </a:effectLst>
        </p:spPr>
        <p:txBody>
          <a:bodyPr/>
          <a:lstStyle/>
          <a:p>
            <a:endParaRPr lang="en-US"/>
          </a:p>
        </p:txBody>
      </p:sp>
      <p:sp>
        <p:nvSpPr>
          <p:cNvPr id="41" name="c4txt"/>
          <p:cNvSpPr/>
          <p:nvPr/>
        </p:nvSpPr>
        <p:spPr>
          <a:xfrm>
            <a:off x="6858000" y="3657600"/>
            <a:ext cx="1920240" cy="1051560"/>
          </a:xfrm>
          <a:prstGeom prst="rect">
            <a:avLst/>
          </a:prstGeom>
          <a:noFill/>
          <a:ln/>
        </p:spPr>
        <p:txBody>
          <a:bodyPr wrap="square" lIns="91440" tIns="91440" rIns="91440" bIns="91440" rtlCol="0" anchor="ctr"/>
          <a:lstStyle/>
          <a:p>
            <a:pPr marL="0" indent="0" algn="ctr">
              <a:buNone/>
            </a:pPr>
            <a:r>
              <a:rPr lang="en-US" sz="850" dirty="0">
                <a:solidFill>
                  <a:srgbClr val="94A3B8"/>
                </a:solidFill>
              </a:rPr>
              <a:t>TC = 10 bps × L1 weight change</a:t>
            </a:r>
          </a:p>
          <a:p>
            <a:pPr marL="0" indent="0" algn="ctr">
              <a:buNone/>
            </a:pPr>
            <a:endParaRPr lang="en-US" sz="500" dirty="0"/>
          </a:p>
          <a:p>
            <a:pPr marL="0" indent="0" algn="ctr">
              <a:buNone/>
            </a:pPr>
            <a:r>
              <a:rPr lang="en-US" sz="850" dirty="0">
                <a:solidFill>
                  <a:srgbClr val="10B981"/>
                </a:solidFill>
              </a:rPr>
              <a:t>0.199 drag = 22% of gross alpha removed by TC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365760" y="109728"/>
            <a:ext cx="8412480" cy="201168"/>
          </a:xfrm>
          <a:prstGeom prst="rect">
            <a:avLst/>
          </a:prstGeom>
          <a:noFill/>
          <a:ln/>
        </p:spPr>
        <p:txBody>
          <a:bodyPr wrap="square" rtlCol="0" anchor="ctr"/>
          <a:lstStyle/>
          <a:p>
            <a:r>
              <a:rPr lang="en-US" sz="700" b="1" kern="0" spc="300" dirty="0">
                <a:solidFill>
                  <a:srgbClr val="5D8AA8"/>
                </a:solidFill>
              </a:rPr>
              <a:t>CAPACITY</a:t>
            </a:r>
            <a:endParaRPr lang="en-US" sz="700" dirty="0">
              <a:solidFill>
                <a:schemeClr val="tx2">
                  <a:lumMod val="60000"/>
                  <a:lumOff val="40000"/>
                </a:schemeClr>
              </a:solidFill>
            </a:endParaRPr>
          </a:p>
        </p:txBody>
      </p:sp>
      <p:sp>
        <p:nvSpPr>
          <p:cNvPr id="3" name="title"/>
          <p:cNvSpPr/>
          <p:nvPr/>
        </p:nvSpPr>
        <p:spPr>
          <a:xfrm>
            <a:off x="365760" y="274320"/>
            <a:ext cx="8229600" cy="475488"/>
          </a:xfrm>
          <a:prstGeom prst="rect">
            <a:avLst/>
          </a:prstGeom>
          <a:noFill/>
          <a:ln/>
        </p:spPr>
        <p:txBody>
          <a:bodyPr wrap="square" rtlCol="0" anchor="ctr"/>
          <a:lstStyle/>
          <a:p>
            <a:pPr marL="0" indent="0">
              <a:buNone/>
            </a:pPr>
            <a:r>
              <a:rPr lang="en-US" sz="2400" b="1" dirty="0">
                <a:solidFill>
                  <a:srgbClr val="0F172A"/>
                </a:solidFill>
                <a:latin typeface="Calibri" pitchFamily="34" charset="0"/>
              </a:rPr>
              <a:t>Real-World Capacity Analysis</a:t>
            </a:r>
          </a:p>
        </p:txBody>
      </p:sp>
      <p:sp>
        <p:nvSpPr>
          <p:cNvPr id="10" name="card1bg"/>
          <p:cNvSpPr/>
          <p:nvPr/>
        </p:nvSpPr>
        <p:spPr>
          <a:xfrm>
            <a:off x="274320" y="914400"/>
            <a:ext cx="198120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11" name="card1bar"/>
          <p:cNvSpPr/>
          <p:nvPr/>
        </p:nvSpPr>
        <p:spPr>
          <a:xfrm>
            <a:off x="274320" y="914400"/>
            <a:ext cx="1981200" cy="45720"/>
          </a:xfrm>
          <a:prstGeom prst="rect">
            <a:avLst/>
          </a:prstGeom>
          <a:solidFill>
            <a:srgbClr val="10B981"/>
          </a:solidFill>
          <a:ln>
            <a:solidFill>
              <a:srgbClr val="10B981"/>
            </a:solidFill>
          </a:ln>
        </p:spPr>
        <p:txBody>
          <a:bodyPr/>
          <a:lstStyle/>
          <a:p>
            <a:endParaRPr lang="en-US"/>
          </a:p>
        </p:txBody>
      </p:sp>
      <p:sp>
        <p:nvSpPr>
          <p:cNvPr id="12" name="card1num"/>
          <p:cNvSpPr/>
          <p:nvPr/>
        </p:nvSpPr>
        <p:spPr>
          <a:xfrm>
            <a:off x="274320" y="987120"/>
            <a:ext cx="1981200" cy="685800"/>
          </a:xfrm>
          <a:prstGeom prst="rect">
            <a:avLst/>
          </a:prstGeom>
          <a:noFill/>
          <a:ln/>
        </p:spPr>
        <p:txBody>
          <a:bodyPr wrap="square" lIns="0" tIns="0" rIns="0" bIns="0" rtlCol="0" anchor="ctr"/>
          <a:lstStyle/>
          <a:p>
            <a:pPr marL="0" indent="0" algn="ctr">
              <a:buNone/>
            </a:pPr>
            <a:r>
              <a:rPr lang="en-US" sz="2400" b="1" dirty="0">
                <a:solidFill>
                  <a:srgbClr val="10B981"/>
                </a:solidFill>
                <a:latin typeface="Calibri" pitchFamily="34" charset="0"/>
              </a:rPr>
              <a:t>2,300</a:t>
            </a:r>
          </a:p>
        </p:txBody>
      </p:sp>
      <p:sp>
        <p:nvSpPr>
          <p:cNvPr id="13" name="card1lbl"/>
          <p:cNvSpPr/>
          <p:nvPr/>
        </p:nvSpPr>
        <p:spPr>
          <a:xfrm>
            <a:off x="274320" y="1676400"/>
            <a:ext cx="1981200" cy="548640"/>
          </a:xfrm>
          <a:prstGeom prst="rect">
            <a:avLst/>
          </a:prstGeom>
          <a:noFill/>
          <a:ln/>
        </p:spPr>
        <p:txBody>
          <a:bodyPr wrap="square" lIns="0" tIns="0" rIns="0" bIns="0" rtlCol="0" anchor="ctr"/>
          <a:lstStyle/>
          <a:p>
            <a:pPr marL="0" indent="0" algn="ctr">
              <a:buNone/>
            </a:pPr>
            <a:r>
              <a:rPr lang="en-US" sz="900" dirty="0">
                <a:solidFill>
                  <a:srgbClr val="94A3B8"/>
                </a:solidFill>
              </a:rPr>
              <a:t>Stocks / month</a:t>
            </a:r>
          </a:p>
          <a:p>
            <a:pPr marL="0" indent="0" algn="ctr">
              <a:buNone/>
            </a:pPr>
            <a:r>
              <a:rPr lang="en-US" sz="900" dirty="0">
                <a:solidFill>
                  <a:srgbClr val="94A3B8"/>
                </a:solidFill>
              </a:rPr>
              <a:t>after microcap screen</a:t>
            </a:r>
          </a:p>
        </p:txBody>
      </p:sp>
      <p:sp>
        <p:nvSpPr>
          <p:cNvPr id="20" name="card2bg"/>
          <p:cNvSpPr/>
          <p:nvPr/>
        </p:nvSpPr>
        <p:spPr>
          <a:xfrm>
            <a:off x="2377440" y="914400"/>
            <a:ext cx="198120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21" name="card2bar"/>
          <p:cNvSpPr/>
          <p:nvPr/>
        </p:nvSpPr>
        <p:spPr>
          <a:xfrm>
            <a:off x="2377440" y="914400"/>
            <a:ext cx="1981200" cy="45720"/>
          </a:xfrm>
          <a:prstGeom prst="rect">
            <a:avLst/>
          </a:prstGeom>
          <a:solidFill>
            <a:srgbClr val="10B981"/>
          </a:solidFill>
          <a:ln>
            <a:solidFill>
              <a:srgbClr val="10B981"/>
            </a:solidFill>
          </a:ln>
        </p:spPr>
        <p:txBody>
          <a:bodyPr/>
          <a:lstStyle/>
          <a:p>
            <a:endParaRPr lang="en-US"/>
          </a:p>
        </p:txBody>
      </p:sp>
      <p:sp>
        <p:nvSpPr>
          <p:cNvPr id="22" name="card2num"/>
          <p:cNvSpPr/>
          <p:nvPr/>
        </p:nvSpPr>
        <p:spPr>
          <a:xfrm>
            <a:off x="2377440" y="987120"/>
            <a:ext cx="1981200" cy="685800"/>
          </a:xfrm>
          <a:prstGeom prst="rect">
            <a:avLst/>
          </a:prstGeom>
          <a:noFill/>
          <a:ln/>
        </p:spPr>
        <p:txBody>
          <a:bodyPr wrap="square" lIns="0" tIns="0" rIns="0" bIns="0" rtlCol="0" anchor="ctr"/>
          <a:lstStyle/>
          <a:p>
            <a:pPr marL="0" indent="0" algn="ctr">
              <a:buNone/>
            </a:pPr>
            <a:r>
              <a:rPr lang="en-US" sz="2400" b="1" dirty="0">
                <a:solidFill>
                  <a:srgbClr val="10B981"/>
                </a:solidFill>
                <a:latin typeface="Calibri" pitchFamily="34" charset="0"/>
              </a:rPr>
              <a:t>230</a:t>
            </a:r>
          </a:p>
        </p:txBody>
      </p:sp>
      <p:sp>
        <p:nvSpPr>
          <p:cNvPr id="23" name="card2lbl"/>
          <p:cNvSpPr/>
          <p:nvPr/>
        </p:nvSpPr>
        <p:spPr>
          <a:xfrm>
            <a:off x="2377440" y="1676400"/>
            <a:ext cx="1981200" cy="548640"/>
          </a:xfrm>
          <a:prstGeom prst="rect">
            <a:avLst/>
          </a:prstGeom>
          <a:noFill/>
          <a:ln/>
        </p:spPr>
        <p:txBody>
          <a:bodyPr wrap="square" lIns="0" tIns="0" rIns="0" bIns="0" rtlCol="0" anchor="ctr"/>
          <a:lstStyle/>
          <a:p>
            <a:pPr marL="0" indent="0" algn="ctr">
              <a:buNone/>
            </a:pPr>
            <a:r>
              <a:rPr lang="en-US" sz="900" dirty="0">
                <a:solidFill>
                  <a:srgbClr val="94A3B8"/>
                </a:solidFill>
              </a:rPr>
              <a:t>Stocks per leg</a:t>
            </a:r>
          </a:p>
          <a:p>
            <a:pPr marL="0" indent="0" algn="ctr">
              <a:buNone/>
            </a:pPr>
            <a:r>
              <a:rPr lang="en-US" sz="900" dirty="0">
                <a:solidFill>
                  <a:srgbClr val="94A3B8"/>
                </a:solidFill>
              </a:rPr>
              <a:t>(long + short)</a:t>
            </a:r>
          </a:p>
        </p:txBody>
      </p:sp>
      <p:sp>
        <p:nvSpPr>
          <p:cNvPr id="30" name="card3bg"/>
          <p:cNvSpPr/>
          <p:nvPr/>
        </p:nvSpPr>
        <p:spPr>
          <a:xfrm>
            <a:off x="4480560" y="914400"/>
            <a:ext cx="198120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31" name="card3bar"/>
          <p:cNvSpPr/>
          <p:nvPr/>
        </p:nvSpPr>
        <p:spPr>
          <a:xfrm>
            <a:off x="4480560" y="914400"/>
            <a:ext cx="1981200" cy="45720"/>
          </a:xfrm>
          <a:prstGeom prst="rect">
            <a:avLst/>
          </a:prstGeom>
          <a:solidFill>
            <a:srgbClr val="F59E0B"/>
          </a:solidFill>
          <a:ln>
            <a:solidFill>
              <a:srgbClr val="F59E0B"/>
            </a:solidFill>
          </a:ln>
        </p:spPr>
        <p:txBody>
          <a:bodyPr/>
          <a:lstStyle/>
          <a:p>
            <a:endParaRPr lang="en-US"/>
          </a:p>
        </p:txBody>
      </p:sp>
      <p:sp>
        <p:nvSpPr>
          <p:cNvPr id="32" name="card3num"/>
          <p:cNvSpPr/>
          <p:nvPr/>
        </p:nvSpPr>
        <p:spPr>
          <a:xfrm>
            <a:off x="4480560" y="987120"/>
            <a:ext cx="1981200" cy="548640"/>
          </a:xfrm>
          <a:prstGeom prst="rect">
            <a:avLst/>
          </a:prstGeom>
          <a:noFill/>
          <a:ln/>
        </p:spPr>
        <p:txBody>
          <a:bodyPr wrap="square" lIns="0" tIns="0" rIns="0" bIns="0" rtlCol="0" anchor="ctr"/>
          <a:lstStyle/>
          <a:p>
            <a:pPr marL="0" indent="0" algn="ctr">
              <a:buNone/>
            </a:pPr>
            <a:r>
              <a:rPr lang="en-US" sz="2400" b="1" dirty="0">
                <a:solidFill>
                  <a:srgbClr val="F59E0B"/>
                </a:solidFill>
                <a:latin typeface="Calibri" pitchFamily="34" charset="0"/>
              </a:rPr>
              <a:t>120%</a:t>
            </a:r>
          </a:p>
        </p:txBody>
      </p:sp>
      <p:sp>
        <p:nvSpPr>
          <p:cNvPr id="33" name="card3sub"/>
          <p:cNvSpPr/>
          <p:nvPr/>
        </p:nvSpPr>
        <p:spPr>
          <a:xfrm>
            <a:off x="4480560" y="1535760"/>
            <a:ext cx="1981200" cy="228600"/>
          </a:xfrm>
          <a:prstGeom prst="rect">
            <a:avLst/>
          </a:prstGeom>
          <a:noFill/>
          <a:ln/>
        </p:spPr>
        <p:txBody>
          <a:bodyPr wrap="square" lIns="0" tIns="0" rIns="0" bIns="0" rtlCol="0" anchor="ctr"/>
          <a:lstStyle/>
          <a:p>
            <a:pPr marL="0" indent="0" algn="ctr">
              <a:buNone/>
            </a:pPr>
            <a:endParaRPr lang="en-US" sz="950" b="1" dirty="0">
              <a:solidFill>
                <a:srgbClr val="F59E0B"/>
              </a:solidFill>
            </a:endParaRPr>
          </a:p>
        </p:txBody>
      </p:sp>
      <p:sp>
        <p:nvSpPr>
          <p:cNvPr id="34" name="card3lbl"/>
          <p:cNvSpPr/>
          <p:nvPr/>
        </p:nvSpPr>
        <p:spPr>
          <a:xfrm>
            <a:off x="4480560" y="1762200"/>
            <a:ext cx="1981200" cy="365760"/>
          </a:xfrm>
          <a:prstGeom prst="rect">
            <a:avLst/>
          </a:prstGeom>
          <a:noFill/>
          <a:ln/>
        </p:spPr>
        <p:txBody>
          <a:bodyPr wrap="square" lIns="0" tIns="0" rIns="0" bIns="0" rtlCol="0" anchor="ctr"/>
          <a:lstStyle/>
          <a:p>
            <a:pPr marL="0" indent="0" algn="ctr">
              <a:buNone/>
            </a:pPr>
            <a:r>
              <a:rPr lang="en-US" sz="900" dirty="0">
                <a:solidFill>
                  <a:srgbClr val="94A3B8"/>
                </a:solidFill>
              </a:rPr>
              <a:t>Monthly turnover</a:t>
            </a:r>
          </a:p>
          <a:p>
            <a:pPr marL="0" indent="0" algn="ctr">
              <a:buNone/>
            </a:pPr>
            <a:r>
              <a:rPr lang="en-US" sz="900" dirty="0">
                <a:solidFill>
                  <a:srgbClr val="94A3B8"/>
                </a:solidFill>
              </a:rPr>
              <a:t>(118–133%)</a:t>
            </a:r>
          </a:p>
        </p:txBody>
      </p:sp>
      <p:sp>
        <p:nvSpPr>
          <p:cNvPr id="40" name="card4bg"/>
          <p:cNvSpPr/>
          <p:nvPr/>
        </p:nvSpPr>
        <p:spPr>
          <a:xfrm>
            <a:off x="6583680" y="914400"/>
            <a:ext cx="2103120" cy="137160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41" name="card4bar"/>
          <p:cNvSpPr/>
          <p:nvPr/>
        </p:nvSpPr>
        <p:spPr>
          <a:xfrm>
            <a:off x="6583680" y="914400"/>
            <a:ext cx="2103120" cy="45720"/>
          </a:xfrm>
          <a:prstGeom prst="rect">
            <a:avLst/>
          </a:prstGeom>
          <a:solidFill>
            <a:srgbClr val="0284C7"/>
          </a:solidFill>
          <a:ln>
            <a:solidFill>
              <a:srgbClr val="0284C7"/>
            </a:solidFill>
          </a:ln>
        </p:spPr>
        <p:txBody>
          <a:bodyPr/>
          <a:lstStyle/>
          <a:p>
            <a:endParaRPr lang="en-US"/>
          </a:p>
        </p:txBody>
      </p:sp>
      <p:sp>
        <p:nvSpPr>
          <p:cNvPr id="42" name="card4num"/>
          <p:cNvSpPr/>
          <p:nvPr/>
        </p:nvSpPr>
        <p:spPr>
          <a:xfrm>
            <a:off x="6583680" y="987120"/>
            <a:ext cx="2103120" cy="685800"/>
          </a:xfrm>
          <a:prstGeom prst="rect">
            <a:avLst/>
          </a:prstGeom>
          <a:noFill/>
          <a:ln/>
        </p:spPr>
        <p:txBody>
          <a:bodyPr wrap="square" lIns="0" tIns="0" rIns="0" bIns="0" rtlCol="0" anchor="ctr"/>
          <a:lstStyle/>
          <a:p>
            <a:pPr marL="0" indent="0" algn="ctr">
              <a:buNone/>
            </a:pPr>
            <a:r>
              <a:rPr lang="en-US" sz="2000" b="1" dirty="0">
                <a:solidFill>
                  <a:srgbClr val="0284C7"/>
                </a:solidFill>
                <a:latin typeface="Calibri" pitchFamily="34" charset="0"/>
              </a:rPr>
              <a:t>$300–500M</a:t>
            </a:r>
          </a:p>
        </p:txBody>
      </p:sp>
      <p:sp>
        <p:nvSpPr>
          <p:cNvPr id="43" name="card4lbl"/>
          <p:cNvSpPr/>
          <p:nvPr/>
        </p:nvSpPr>
        <p:spPr>
          <a:xfrm>
            <a:off x="6583680" y="1676400"/>
            <a:ext cx="2103120" cy="548640"/>
          </a:xfrm>
          <a:prstGeom prst="rect">
            <a:avLst/>
          </a:prstGeom>
          <a:noFill/>
          <a:ln/>
        </p:spPr>
        <p:txBody>
          <a:bodyPr wrap="square" lIns="0" tIns="0" rIns="0" bIns="0" rtlCol="0" anchor="ctr"/>
          <a:lstStyle/>
          <a:p>
            <a:pPr marL="0" indent="0" algn="ctr">
              <a:buNone/>
            </a:pPr>
            <a:r>
              <a:rPr lang="en-US" sz="900" dirty="0">
                <a:solidFill>
                  <a:srgbClr val="94A3B8"/>
                </a:solidFill>
              </a:rPr>
              <a:t>Estimated AUM capacity</a:t>
            </a:r>
          </a:p>
          <a:p>
            <a:pPr marL="0" indent="0" algn="ctr">
              <a:buNone/>
            </a:pPr>
            <a:r>
              <a:rPr lang="en-US" sz="900" dirty="0">
                <a:solidFill>
                  <a:srgbClr val="94A3B8"/>
                </a:solidFill>
              </a:rPr>
              <a:t>before market impact</a:t>
            </a:r>
          </a:p>
        </p:txBody>
      </p:sp>
      <p:sp>
        <p:nvSpPr>
          <p:cNvPr id="50" name="turnover_card"/>
          <p:cNvSpPr/>
          <p:nvPr/>
        </p:nvSpPr>
        <p:spPr>
          <a:xfrm>
            <a:off x="274320" y="2467800"/>
            <a:ext cx="4206480" cy="261528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51" name="turnover_title"/>
          <p:cNvSpPr/>
          <p:nvPr/>
        </p:nvSpPr>
        <p:spPr>
          <a:xfrm>
            <a:off x="411480" y="2535360"/>
            <a:ext cx="397512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rPr>
              <a:t>Turnover Cost Reality</a:t>
            </a:r>
          </a:p>
        </p:txBody>
      </p:sp>
      <p:sp>
        <p:nvSpPr>
          <p:cNvPr id="52" name="turnover_body"/>
          <p:cNvSpPr/>
          <p:nvPr/>
        </p:nvSpPr>
        <p:spPr>
          <a:xfrm>
            <a:off x="411480" y="2868120"/>
            <a:ext cx="3975120" cy="2096640"/>
          </a:xfrm>
          <a:prstGeom prst="rect">
            <a:avLst/>
          </a:prstGeom>
          <a:noFill/>
          <a:ln/>
        </p:spPr>
        <p:txBody>
          <a:bodyPr wrap="square" rtlCol="0" anchor="t"/>
          <a:lstStyle/>
          <a:p>
            <a:pPr marL="0" indent="0">
              <a:buNone/>
            </a:pPr>
            <a:r>
              <a:rPr lang="en-US" sz="900" dirty="0">
                <a:solidFill>
                  <a:srgbClr val="10B981"/>
                </a:solidFill>
                <a:latin typeface="Consolas"/>
              </a:rPr>
              <a:t>TC = 10 bps × L1 weight change</a:t>
            </a:r>
          </a:p>
          <a:p>
            <a:pPr marL="0" indent="0">
              <a:buNone/>
            </a:pPr>
            <a:endParaRPr lang="en-US" sz="900" dirty="0"/>
          </a:p>
          <a:p>
            <a:pPr marL="0" indent="0">
              <a:buNone/>
            </a:pPr>
            <a:r>
              <a:rPr lang="en-US" sz="1000" dirty="0">
                <a:solidFill>
                  <a:srgbClr val="475569"/>
                </a:solidFill>
              </a:rPr>
              <a:t>120% monthly = </a:t>
            </a:r>
            <a:r>
              <a:rPr lang="en-US" sz="1000" b="1" dirty="0">
                <a:solidFill>
                  <a:srgbClr val="F59E0B"/>
                </a:solidFill>
              </a:rPr>
              <a:t>5× annual turnover.</a:t>
            </a:r>
          </a:p>
          <a:p>
            <a:pPr marL="0" indent="0">
              <a:buNone/>
            </a:pPr>
            <a:endParaRPr lang="en-US" sz="900" dirty="0"/>
          </a:p>
          <a:p>
            <a:pPr marL="0" indent="0">
              <a:buNone/>
            </a:pPr>
            <a:r>
              <a:rPr lang="en-US" sz="1000" dirty="0">
                <a:solidFill>
                  <a:srgbClr val="475569"/>
                </a:solidFill>
              </a:rPr>
              <a:t>230 stocks always in the portfolio but replaced so aggressively each year that the original positions turn over 5 times by December.</a:t>
            </a:r>
          </a:p>
          <a:p>
            <a:pPr marL="0" indent="0">
              <a:buNone/>
            </a:pPr>
            <a:endParaRPr lang="en-US" sz="900" dirty="0"/>
          </a:p>
          <a:p>
            <a:pPr marL="0" indent="0">
              <a:buNone/>
            </a:pPr>
            <a:r>
              <a:rPr lang="en-US" sz="1000" dirty="0">
                <a:solidFill>
                  <a:srgbClr val="475569"/>
                </a:solidFill>
              </a:rPr>
              <a:t>Without honest transaction costs deduction, full-sample Sharpe appears substantially higher. </a:t>
            </a:r>
            <a:r>
              <a:rPr lang="en-US" sz="1000" b="1" dirty="0">
                <a:solidFill>
                  <a:srgbClr val="1E293B"/>
                </a:solidFill>
              </a:rPr>
              <a:t>The 0.72 Sharpe reported here already reflects this drag.</a:t>
            </a:r>
          </a:p>
        </p:txBody>
      </p:sp>
      <p:sp>
        <p:nvSpPr>
          <p:cNvPr id="60" name="aum_card"/>
          <p:cNvSpPr/>
          <p:nvPr/>
        </p:nvSpPr>
        <p:spPr>
          <a:xfrm>
            <a:off x="4572000" y="2467800"/>
            <a:ext cx="4114800" cy="2615280"/>
          </a:xfrm>
          <a:prstGeom prst="rect">
            <a:avLst/>
          </a:prstGeom>
          <a:solidFill>
            <a:srgbClr val="FFFFFF"/>
          </a:solidFill>
          <a:ln w="6350">
            <a:solidFill>
              <a:srgbClr val="E2E8F0"/>
            </a:solidFill>
          </a:ln>
          <a:effectLst>
            <a:outerShdw blurRad="152400" dist="25400" dir="8100000" algn="bl" rotWithShape="0">
              <a:srgbClr val="0F172A">
                <a:alpha val="7000"/>
              </a:srgbClr>
            </a:outerShdw>
          </a:effectLst>
        </p:spPr>
        <p:txBody>
          <a:bodyPr/>
          <a:lstStyle/>
          <a:p>
            <a:endParaRPr lang="en-US"/>
          </a:p>
        </p:txBody>
      </p:sp>
      <p:sp>
        <p:nvSpPr>
          <p:cNvPr id="61" name="aum_title"/>
          <p:cNvSpPr/>
          <p:nvPr/>
        </p:nvSpPr>
        <p:spPr>
          <a:xfrm>
            <a:off x="4709160" y="2535360"/>
            <a:ext cx="384048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rPr>
              <a:t>Why $300–500M?  Market Impact</a:t>
            </a:r>
          </a:p>
        </p:txBody>
      </p:sp>
      <p:sp>
        <p:nvSpPr>
          <p:cNvPr id="62" name="aum_body"/>
          <p:cNvSpPr/>
          <p:nvPr/>
        </p:nvSpPr>
        <p:spPr>
          <a:xfrm>
            <a:off x="4709160" y="2868120"/>
            <a:ext cx="3840480" cy="2096640"/>
          </a:xfrm>
          <a:prstGeom prst="rect">
            <a:avLst/>
          </a:prstGeom>
          <a:noFill/>
          <a:ln/>
        </p:spPr>
        <p:txBody>
          <a:bodyPr wrap="square" rtlCol="0" anchor="t"/>
          <a:lstStyle/>
          <a:p>
            <a:pPr marL="0" indent="0">
              <a:buNone/>
            </a:pPr>
            <a:r>
              <a:rPr lang="en-US" sz="1000" b="1" dirty="0">
                <a:solidFill>
                  <a:srgbClr val="059669"/>
                </a:solidFill>
              </a:rPr>
              <a:t>Small fund ($10M): </a:t>
            </a:r>
            <a:r>
              <a:rPr lang="en-US" sz="1000" dirty="0">
                <a:solidFill>
                  <a:srgbClr val="475569"/>
                </a:solidFill>
              </a:rPr>
              <a:t>Position ≈ $50K. Market barely notices. Price unaffected. </a:t>
            </a:r>
          </a:p>
          <a:p>
            <a:pPr marL="0" indent="0">
              <a:buNone/>
            </a:pPr>
            <a:endParaRPr lang="en-US" sz="900" dirty="0"/>
          </a:p>
          <a:p>
            <a:pPr marL="0" indent="0">
              <a:buNone/>
            </a:pPr>
            <a:r>
              <a:rPr lang="en-US" sz="1000" b="1" dirty="0">
                <a:solidFill>
                  <a:srgbClr val="DC2626"/>
                </a:solidFill>
              </a:rPr>
              <a:t>Large fund ($5B): </a:t>
            </a:r>
            <a:r>
              <a:rPr lang="en-US" sz="1000" dirty="0">
                <a:solidFill>
                  <a:srgbClr val="475569"/>
                </a:solidFill>
              </a:rPr>
              <a:t>Position ≈ $20M but stock only trades $10M/day. You ARE the market. Prices move against you before you finish. </a:t>
            </a:r>
          </a:p>
          <a:p>
            <a:pPr marL="0" indent="0">
              <a:buNone/>
            </a:pPr>
            <a:endParaRPr lang="en-US" sz="900" dirty="0"/>
          </a:p>
          <a:p>
            <a:pPr marL="0" indent="0">
              <a:buNone/>
            </a:pPr>
            <a:r>
              <a:rPr lang="en-US" sz="1000" dirty="0">
                <a:solidFill>
                  <a:srgbClr val="475569"/>
                </a:solidFill>
              </a:rPr>
              <a:t>At $300–500M with 230 names per leg: avg position ≈ </a:t>
            </a:r>
            <a:r>
              <a:rPr lang="en-US" sz="1000" b="1" dirty="0">
                <a:solidFill>
                  <a:srgbClr val="1E293B"/>
                </a:solidFill>
              </a:rPr>
              <a:t>$1–2M/stock/month</a:t>
            </a:r>
            <a:r>
              <a:rPr lang="en-US" sz="1000" dirty="0">
                <a:solidFill>
                  <a:srgbClr val="475569"/>
                </a:solidFill>
              </a:rPr>
              <a:t> — safely within daily liquidity for mid-large US equities. Signal survives.</a:t>
            </a:r>
          </a:p>
          <a:p>
            <a:pPr marL="0" indent="0">
              <a:buNone/>
            </a:pPr>
            <a:endParaRPr lang="en-US" sz="900" dirty="0"/>
          </a:p>
          <a:p>
            <a:pPr marL="0" indent="0">
              <a:buNone/>
            </a:pPr>
            <a:r>
              <a:rPr lang="en-US" sz="950" i="1" dirty="0">
                <a:solidFill>
                  <a:srgbClr val="94A3B8"/>
                </a:solidFill>
              </a:rPr>
              <a:t>Beyond $500M: trades too large relative to daily volume. You move the price against yourself before finishing. The edge disappears.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365760" y="109728"/>
            <a:ext cx="8412480" cy="201168"/>
          </a:xfrm>
          <a:prstGeom prst="rect">
            <a:avLst/>
          </a:prstGeom>
          <a:noFill/>
          <a:ln/>
        </p:spPr>
        <p:txBody>
          <a:bodyPr wrap="square" rtlCol="0" anchor="ctr"/>
          <a:lstStyle/>
          <a:p>
            <a:pPr marL="0" indent="0" algn="l">
              <a:buNone/>
            </a:pPr>
            <a:endParaRPr lang="en-US" sz="750" b="1" kern="0" spc="400" dirty="0">
              <a:solidFill>
                <a:srgbClr val="10B981"/>
              </a:solidFill>
              <a:latin typeface="Calibri" pitchFamily="34" charset="0"/>
            </a:endParaRPr>
          </a:p>
        </p:txBody>
      </p:sp>
      <p:sp>
        <p:nvSpPr>
          <p:cNvPr id="3" name="title"/>
          <p:cNvSpPr/>
          <p:nvPr/>
        </p:nvSpPr>
        <p:spPr>
          <a:xfrm>
            <a:off x="365760" y="274320"/>
            <a:ext cx="8229600" cy="380160"/>
          </a:xfrm>
          <a:prstGeom prst="rect">
            <a:avLst/>
          </a:prstGeom>
          <a:noFill/>
          <a:ln/>
        </p:spPr>
        <p:txBody>
          <a:bodyPr wrap="square" rtlCol="0" anchor="ctr"/>
          <a:lstStyle/>
          <a:p>
            <a:pPr marL="0" indent="0">
              <a:buNone/>
            </a:pPr>
            <a:r>
              <a:rPr lang="en-US" sz="2400" b="1" dirty="0">
                <a:solidFill>
                  <a:srgbClr val="0F172A"/>
                </a:solidFill>
                <a:latin typeface="Calibri" pitchFamily="34" charset="0"/>
              </a:rPr>
              <a:t>What Is the Strategy Actually Doing?</a:t>
            </a:r>
          </a:p>
        </p:txBody>
      </p:sp>
      <p:pic>
        <p:nvPicPr>
          <p:cNvPr id="4" name="chart_img"/>
          <p:cNvPicPr>
            <a:picLocks noChangeAspect="1"/>
          </p:cNvPicPr>
          <p:nvPr/>
        </p:nvPicPr>
        <p:blipFill>
          <a:blip r:embed="rId3"/>
          <a:stretch>
            <a:fillRect/>
          </a:stretch>
        </p:blipFill>
        <p:spPr>
          <a:xfrm>
            <a:off x="274320" y="731520"/>
            <a:ext cx="5486400" cy="3657600"/>
          </a:xfrm>
          <a:prstGeom prst="rect">
            <a:avLst/>
          </a:prstGeom>
          <a:ln w="6350">
            <a:solidFill>
              <a:srgbClr val="E2E8F0"/>
            </a:solidFill>
          </a:ln>
          <a:effectLst>
            <a:outerShdw blurRad="91440" dist="18288" dir="8100000" algn="bl" rotWithShape="0">
              <a:srgbClr val="0F172A">
                <a:alpha val="5000"/>
              </a:srgbClr>
            </a:outerShdw>
          </a:effectLst>
        </p:spPr>
      </p:pic>
      <p:sp>
        <p:nvSpPr>
          <p:cNvPr id="10" name="c1bg"/>
          <p:cNvSpPr/>
          <p:nvPr/>
        </p:nvSpPr>
        <p:spPr>
          <a:xfrm>
            <a:off x="5852880" y="73152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11" name="c1strip"/>
          <p:cNvSpPr/>
          <p:nvPr/>
        </p:nvSpPr>
        <p:spPr>
          <a:xfrm>
            <a:off x="5852880" y="731520"/>
            <a:ext cx="18288" cy="822960"/>
          </a:xfrm>
          <a:prstGeom prst="rect">
            <a:avLst/>
          </a:prstGeom>
          <a:solidFill>
            <a:srgbClr val="EF4444"/>
          </a:solidFill>
          <a:ln>
            <a:solidFill>
              <a:srgbClr val="EF4444"/>
            </a:solidFill>
          </a:ln>
        </p:spPr>
        <p:txBody>
          <a:bodyPr/>
          <a:lstStyle/>
          <a:p>
            <a:endParaRPr lang="en-US"/>
          </a:p>
        </p:txBody>
      </p:sp>
      <p:sp>
        <p:nvSpPr>
          <p:cNvPr id="12" name="c1txt"/>
          <p:cNvSpPr/>
          <p:nvPr/>
        </p:nvSpPr>
        <p:spPr>
          <a:xfrm>
            <a:off x="5926320" y="749520"/>
            <a:ext cx="2706960" cy="786240"/>
          </a:xfrm>
          <a:prstGeom prst="rect">
            <a:avLst/>
          </a:prstGeom>
          <a:noFill/>
          <a:ln/>
        </p:spPr>
        <p:txBody>
          <a:bodyPr wrap="square" rtlCol="0" anchor="t"/>
          <a:lstStyle/>
          <a:p>
            <a:pPr marL="0" indent="0">
              <a:buNone/>
            </a:pPr>
            <a:r>
              <a:rPr lang="en-US" sz="1050" b="1" dirty="0">
                <a:solidFill>
                  <a:srgbClr val="EF4444"/>
                </a:solidFill>
              </a:rPr>
              <a:t>Risk / Volatility  </a:t>
            </a:r>
          </a:p>
          <a:p>
            <a:pPr marL="0" indent="0">
              <a:buNone/>
            </a:pPr>
            <a:r>
              <a:rPr lang="en-US" sz="800" dirty="0">
                <a:solidFill>
                  <a:srgbClr val="475569"/>
                </a:solidFill>
                <a:latin typeface="Consolas"/>
              </a:rPr>
              <a:t>rmax5_21d (14.3)  rmax1_21d  </a:t>
            </a:r>
            <a:r>
              <a:rPr lang="en-US" sz="800" dirty="0" err="1">
                <a:solidFill>
                  <a:srgbClr val="475569"/>
                </a:solidFill>
                <a:latin typeface="Consolas"/>
              </a:rPr>
              <a:t>ivol</a:t>
            </a:r>
            <a:endParaRPr lang="en-US" sz="800" dirty="0">
              <a:solidFill>
                <a:srgbClr val="475569"/>
              </a:solidFill>
              <a:latin typeface="Consolas"/>
            </a:endParaRPr>
          </a:p>
          <a:p>
            <a:pPr marL="0" indent="0">
              <a:buNone/>
            </a:pPr>
            <a:endParaRPr lang="en-US" sz="700" dirty="0"/>
          </a:p>
          <a:p>
            <a:pPr marL="0" indent="0">
              <a:buNone/>
            </a:pPr>
            <a:r>
              <a:rPr lang="en-US" sz="900" dirty="0">
                <a:solidFill>
                  <a:srgbClr val="475569"/>
                </a:solidFill>
              </a:rPr>
              <a:t>Max 5-day return in 21 days — the model avoids high-volatility, lottery-like stocks.</a:t>
            </a:r>
          </a:p>
        </p:txBody>
      </p:sp>
      <p:sp>
        <p:nvSpPr>
          <p:cNvPr id="20" name="c2bg"/>
          <p:cNvSpPr/>
          <p:nvPr/>
        </p:nvSpPr>
        <p:spPr>
          <a:xfrm>
            <a:off x="5852880" y="158184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21" name="c2strip"/>
          <p:cNvSpPr/>
          <p:nvPr/>
        </p:nvSpPr>
        <p:spPr>
          <a:xfrm>
            <a:off x="5852880" y="1581840"/>
            <a:ext cx="18288" cy="822960"/>
          </a:xfrm>
          <a:prstGeom prst="rect">
            <a:avLst/>
          </a:prstGeom>
          <a:solidFill>
            <a:srgbClr val="F59E0B"/>
          </a:solidFill>
          <a:ln>
            <a:solidFill>
              <a:srgbClr val="F59E0B"/>
            </a:solidFill>
          </a:ln>
        </p:spPr>
        <p:txBody>
          <a:bodyPr/>
          <a:lstStyle/>
          <a:p>
            <a:endParaRPr lang="en-US"/>
          </a:p>
        </p:txBody>
      </p:sp>
      <p:sp>
        <p:nvSpPr>
          <p:cNvPr id="22" name="c2txt"/>
          <p:cNvSpPr/>
          <p:nvPr/>
        </p:nvSpPr>
        <p:spPr>
          <a:xfrm>
            <a:off x="5926320" y="1599840"/>
            <a:ext cx="2706960" cy="786240"/>
          </a:xfrm>
          <a:prstGeom prst="rect">
            <a:avLst/>
          </a:prstGeom>
          <a:noFill/>
          <a:ln/>
        </p:spPr>
        <p:txBody>
          <a:bodyPr wrap="square" rtlCol="0" anchor="t"/>
          <a:lstStyle/>
          <a:p>
            <a:pPr marL="0" indent="0">
              <a:buNone/>
            </a:pPr>
            <a:r>
              <a:rPr lang="en-US" sz="1050" b="1" dirty="0">
                <a:solidFill>
                  <a:srgbClr val="F59E0B"/>
                </a:solidFill>
              </a:rPr>
              <a:t>Value / Quality</a:t>
            </a:r>
          </a:p>
          <a:p>
            <a:pPr marL="0" indent="0">
              <a:buNone/>
            </a:pPr>
            <a:r>
              <a:rPr lang="en-US" sz="800" dirty="0">
                <a:solidFill>
                  <a:srgbClr val="475569"/>
                </a:solidFill>
                <a:latin typeface="Consolas"/>
              </a:rPr>
              <a:t>ebit_mev (12.2)  ocf_me  ebitda_mev</a:t>
            </a:r>
          </a:p>
          <a:p>
            <a:pPr marL="0" indent="0">
              <a:buNone/>
            </a:pPr>
            <a:endParaRPr lang="en-US" sz="700" dirty="0"/>
          </a:p>
          <a:p>
            <a:pPr marL="0" indent="0">
              <a:buNone/>
            </a:pPr>
            <a:r>
              <a:rPr lang="en-US" sz="900" dirty="0">
                <a:solidFill>
                  <a:srgbClr val="475569"/>
                </a:solidFill>
              </a:rPr>
              <a:t>Enterprise value multiples dominate — cheap on earnings and cash flow, not just book.</a:t>
            </a:r>
          </a:p>
        </p:txBody>
      </p:sp>
      <p:sp>
        <p:nvSpPr>
          <p:cNvPr id="30" name="c3bg"/>
          <p:cNvSpPr/>
          <p:nvPr/>
        </p:nvSpPr>
        <p:spPr>
          <a:xfrm>
            <a:off x="5852880" y="243216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31" name="c3strip"/>
          <p:cNvSpPr/>
          <p:nvPr/>
        </p:nvSpPr>
        <p:spPr>
          <a:xfrm>
            <a:off x="5852880" y="2432160"/>
            <a:ext cx="18288" cy="822960"/>
          </a:xfrm>
          <a:prstGeom prst="rect">
            <a:avLst/>
          </a:prstGeom>
          <a:solidFill>
            <a:srgbClr val="2563EB"/>
          </a:solidFill>
          <a:ln>
            <a:solidFill>
              <a:srgbClr val="2563EB"/>
            </a:solidFill>
          </a:ln>
        </p:spPr>
        <p:txBody>
          <a:bodyPr/>
          <a:lstStyle/>
          <a:p>
            <a:endParaRPr lang="en-US"/>
          </a:p>
        </p:txBody>
      </p:sp>
      <p:sp>
        <p:nvSpPr>
          <p:cNvPr id="32" name="c3txt"/>
          <p:cNvSpPr/>
          <p:nvPr/>
        </p:nvSpPr>
        <p:spPr>
          <a:xfrm>
            <a:off x="5926320" y="2450160"/>
            <a:ext cx="2706960" cy="786240"/>
          </a:xfrm>
          <a:prstGeom prst="rect">
            <a:avLst/>
          </a:prstGeom>
          <a:noFill/>
          <a:ln/>
        </p:spPr>
        <p:txBody>
          <a:bodyPr wrap="square" rtlCol="0" anchor="t"/>
          <a:lstStyle/>
          <a:p>
            <a:pPr marL="0" indent="0">
              <a:buNone/>
            </a:pPr>
            <a:r>
              <a:rPr lang="en-US" sz="1050" b="1" dirty="0">
                <a:solidFill>
                  <a:srgbClr val="2563EB"/>
                </a:solidFill>
              </a:rPr>
              <a:t>Momentum + Reversal</a:t>
            </a:r>
          </a:p>
          <a:p>
            <a:pPr marL="0" indent="0">
              <a:buNone/>
            </a:pPr>
            <a:r>
              <a:rPr lang="en-US" sz="800" dirty="0">
                <a:solidFill>
                  <a:srgbClr val="475569"/>
                </a:solidFill>
                <a:latin typeface="Consolas"/>
              </a:rPr>
              <a:t>ret_12_1 (#11, 6.7)  ret_1_0 (#17)</a:t>
            </a:r>
          </a:p>
          <a:p>
            <a:pPr marL="0" indent="0">
              <a:buNone/>
            </a:pPr>
            <a:endParaRPr lang="en-US" sz="700" dirty="0"/>
          </a:p>
          <a:p>
            <a:pPr marL="0" indent="0">
              <a:buNone/>
            </a:pPr>
            <a:r>
              <a:rPr lang="en-US" sz="900" dirty="0">
                <a:solidFill>
                  <a:srgbClr val="475569"/>
                </a:solidFill>
              </a:rPr>
              <a:t>Present but no longer dominant — consistent with crowding and post-2010 decay.</a:t>
            </a:r>
          </a:p>
        </p:txBody>
      </p:sp>
      <p:sp>
        <p:nvSpPr>
          <p:cNvPr id="40" name="c4bg"/>
          <p:cNvSpPr/>
          <p:nvPr/>
        </p:nvSpPr>
        <p:spPr>
          <a:xfrm>
            <a:off x="5852880" y="3282480"/>
            <a:ext cx="2834640" cy="822960"/>
          </a:xfrm>
          <a:prstGeom prst="rect">
            <a:avLst/>
          </a:prstGeom>
          <a:solidFill>
            <a:srgbClr val="FFFFFF"/>
          </a:solidFill>
          <a:ln w="6350">
            <a:solidFill>
              <a:srgbClr val="E2E8F0"/>
            </a:solidFill>
          </a:ln>
          <a:effectLst>
            <a:outerShdw blurRad="91440" dist="18288" dir="8100000" algn="bl" rotWithShape="0">
              <a:srgbClr val="0F172A">
                <a:alpha val="4000"/>
              </a:srgbClr>
            </a:outerShdw>
          </a:effectLst>
        </p:spPr>
        <p:txBody>
          <a:bodyPr/>
          <a:lstStyle/>
          <a:p>
            <a:endParaRPr lang="en-US"/>
          </a:p>
        </p:txBody>
      </p:sp>
      <p:sp>
        <p:nvSpPr>
          <p:cNvPr id="41" name="c4strip"/>
          <p:cNvSpPr/>
          <p:nvPr/>
        </p:nvSpPr>
        <p:spPr>
          <a:xfrm>
            <a:off x="5852880" y="3282480"/>
            <a:ext cx="18288" cy="822960"/>
          </a:xfrm>
          <a:prstGeom prst="rect">
            <a:avLst/>
          </a:prstGeom>
          <a:solidFill>
            <a:srgbClr val="10B981"/>
          </a:solidFill>
          <a:ln>
            <a:solidFill>
              <a:srgbClr val="10B981"/>
            </a:solidFill>
          </a:ln>
        </p:spPr>
        <p:txBody>
          <a:bodyPr/>
          <a:lstStyle/>
          <a:p>
            <a:endParaRPr lang="en-US"/>
          </a:p>
        </p:txBody>
      </p:sp>
      <p:sp>
        <p:nvSpPr>
          <p:cNvPr id="42" name="c4txt"/>
          <p:cNvSpPr/>
          <p:nvPr/>
        </p:nvSpPr>
        <p:spPr>
          <a:xfrm>
            <a:off x="5926320" y="3300480"/>
            <a:ext cx="2706960" cy="786240"/>
          </a:xfrm>
          <a:prstGeom prst="rect">
            <a:avLst/>
          </a:prstGeom>
          <a:noFill/>
          <a:ln/>
        </p:spPr>
        <p:txBody>
          <a:bodyPr wrap="square" rtlCol="0" anchor="t"/>
          <a:lstStyle/>
          <a:p>
            <a:pPr marL="0" indent="0">
              <a:buNone/>
            </a:pPr>
            <a:r>
              <a:rPr lang="en-US" sz="1050" b="1" dirty="0">
                <a:solidFill>
                  <a:srgbClr val="10B981"/>
                </a:solidFill>
              </a:rPr>
              <a:t>Mispricing / Composite</a:t>
            </a:r>
          </a:p>
          <a:p>
            <a:pPr marL="0" indent="0">
              <a:buNone/>
            </a:pPr>
            <a:r>
              <a:rPr lang="en-US" sz="800" dirty="0">
                <a:solidFill>
                  <a:srgbClr val="475569"/>
                </a:solidFill>
                <a:latin typeface="Consolas"/>
              </a:rPr>
              <a:t>mispricing_perf (#9, 7.6)  cop_mev</a:t>
            </a:r>
          </a:p>
          <a:p>
            <a:pPr marL="0" indent="0">
              <a:buNone/>
            </a:pPr>
            <a:endParaRPr lang="en-US" sz="700" dirty="0"/>
          </a:p>
          <a:p>
            <a:pPr marL="0" indent="0">
              <a:buNone/>
            </a:pPr>
            <a:r>
              <a:rPr lang="en-US" sz="900" dirty="0">
                <a:solidFill>
                  <a:srgbClr val="475569"/>
                </a:solidFill>
              </a:rPr>
              <a:t>Composite mispricing score — combines value + momentum + quality signals.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65760" y="109728"/>
            <a:ext cx="8412480" cy="201168"/>
          </a:xfrm>
          <a:prstGeom prst="rect">
            <a:avLst/>
          </a:prstGeom>
          <a:noFill/>
          <a:ln/>
        </p:spPr>
        <p:txBody>
          <a:bodyPr wrap="square" rtlCol="0" anchor="ctr"/>
          <a:lstStyle/>
          <a:p>
            <a:pPr marL="0" indent="0" algn="l">
              <a:buNone/>
            </a:pPr>
            <a:endParaRPr lang="en-US" sz="750" dirty="0"/>
          </a:p>
        </p:txBody>
      </p:sp>
      <p:sp>
        <p:nvSpPr>
          <p:cNvPr id="3" name="Text 1"/>
          <p:cNvSpPr/>
          <p:nvPr/>
        </p:nvSpPr>
        <p:spPr>
          <a:xfrm>
            <a:off x="365760" y="274320"/>
            <a:ext cx="8412480" cy="475488"/>
          </a:xfrm>
          <a:prstGeom prst="rect">
            <a:avLst/>
          </a:prstGeom>
          <a:noFill/>
          <a:ln/>
        </p:spPr>
        <p:txBody>
          <a:bodyPr wrap="square" rtlCol="0" anchor="ctr"/>
          <a:lstStyle/>
          <a:p>
            <a:pPr marL="0" indent="0">
              <a:buNone/>
            </a:pPr>
            <a:r>
              <a:rPr lang="en-US" sz="2200" b="1" dirty="0">
                <a:solidFill>
                  <a:srgbClr val="0F172A"/>
                </a:solidFill>
                <a:latin typeface="Calibri" pitchFamily="34" charset="0"/>
                <a:ea typeface="Calibri" pitchFamily="34" charset="-122"/>
                <a:cs typeface="Calibri" pitchFamily="34" charset="-120"/>
              </a:rPr>
              <a:t>What Makes This Different from Vanilla Factor Regression</a:t>
            </a:r>
            <a:endParaRPr lang="en-US" sz="2200" dirty="0"/>
          </a:p>
        </p:txBody>
      </p:sp>
      <p:sp>
        <p:nvSpPr>
          <p:cNvPr id="4" name="Text 2"/>
          <p:cNvSpPr/>
          <p:nvPr/>
        </p:nvSpPr>
        <p:spPr>
          <a:xfrm>
            <a:off x="274320" y="914400"/>
            <a:ext cx="4114800" cy="329184"/>
          </a:xfrm>
          <a:prstGeom prst="rect">
            <a:avLst/>
          </a:prstGeom>
          <a:noFill/>
          <a:ln/>
        </p:spPr>
        <p:txBody>
          <a:bodyPr wrap="square" rtlCol="0" anchor="ctr"/>
          <a:lstStyle/>
          <a:p>
            <a:pPr marL="0" indent="0" algn="ctr">
              <a:buNone/>
            </a:pPr>
            <a:r>
              <a:rPr lang="en-US" sz="1200" b="1" dirty="0">
                <a:solidFill>
                  <a:srgbClr val="DC2626"/>
                </a:solidFill>
              </a:rPr>
              <a:t>Vanilla Approach</a:t>
            </a:r>
            <a:endParaRPr lang="en-US" sz="1200" dirty="0"/>
          </a:p>
        </p:txBody>
      </p:sp>
      <p:sp>
        <p:nvSpPr>
          <p:cNvPr id="5" name="Shape 3"/>
          <p:cNvSpPr/>
          <p:nvPr/>
        </p:nvSpPr>
        <p:spPr>
          <a:xfrm>
            <a:off x="274320" y="1261872"/>
            <a:ext cx="4114800" cy="267004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6" name="Shape 4"/>
          <p:cNvSpPr/>
          <p:nvPr/>
        </p:nvSpPr>
        <p:spPr>
          <a:xfrm>
            <a:off x="274320" y="1261872"/>
            <a:ext cx="4114800" cy="36576"/>
          </a:xfrm>
          <a:prstGeom prst="rect">
            <a:avLst/>
          </a:prstGeom>
          <a:solidFill>
            <a:srgbClr val="EF4444"/>
          </a:solidFill>
          <a:ln w="12700">
            <a:solidFill>
              <a:srgbClr val="EF4444"/>
            </a:solidFill>
            <a:prstDash val="solid"/>
          </a:ln>
        </p:spPr>
        <p:txBody>
          <a:bodyPr/>
          <a:lstStyle/>
          <a:p>
            <a:endParaRPr lang="en-US"/>
          </a:p>
        </p:txBody>
      </p:sp>
      <p:sp>
        <p:nvSpPr>
          <p:cNvPr id="7" name="Text 5"/>
          <p:cNvSpPr/>
          <p:nvPr/>
        </p:nvSpPr>
        <p:spPr>
          <a:xfrm>
            <a:off x="438912" y="13716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Hand-pick 3–5 factors from the zoo</a:t>
            </a:r>
            <a:endParaRPr lang="en-US" sz="1100" dirty="0"/>
          </a:p>
        </p:txBody>
      </p:sp>
      <p:sp>
        <p:nvSpPr>
          <p:cNvPr id="8" name="Text 6"/>
          <p:cNvSpPr/>
          <p:nvPr/>
        </p:nvSpPr>
        <p:spPr>
          <a:xfrm>
            <a:off x="438912" y="18288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Linear regression — fixed weights</a:t>
            </a:r>
            <a:endParaRPr lang="en-US" sz="1100" dirty="0"/>
          </a:p>
        </p:txBody>
      </p:sp>
      <p:sp>
        <p:nvSpPr>
          <p:cNvPr id="9" name="Text 7"/>
          <p:cNvSpPr/>
          <p:nvPr/>
        </p:nvSpPr>
        <p:spPr>
          <a:xfrm>
            <a:off x="438912" y="22860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Factors assumed independent</a:t>
            </a:r>
            <a:endParaRPr lang="en-US" sz="1100" dirty="0"/>
          </a:p>
        </p:txBody>
      </p:sp>
      <p:sp>
        <p:nvSpPr>
          <p:cNvPr id="10" name="Text 8"/>
          <p:cNvSpPr/>
          <p:nvPr/>
        </p:nvSpPr>
        <p:spPr>
          <a:xfrm>
            <a:off x="438912" y="27432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Equal-weight → microcap inflation</a:t>
            </a:r>
            <a:endParaRPr lang="en-US" sz="1100" dirty="0"/>
          </a:p>
        </p:txBody>
      </p:sp>
      <p:sp>
        <p:nvSpPr>
          <p:cNvPr id="11" name="Text 9"/>
          <p:cNvSpPr/>
          <p:nvPr/>
        </p:nvSpPr>
        <p:spPr>
          <a:xfrm>
            <a:off x="438912" y="3200400"/>
            <a:ext cx="3785616" cy="402336"/>
          </a:xfrm>
          <a:prstGeom prst="rect">
            <a:avLst/>
          </a:prstGeom>
          <a:noFill/>
          <a:ln/>
        </p:spPr>
        <p:txBody>
          <a:bodyPr wrap="square" rtlCol="0" anchor="ctr"/>
          <a:lstStyle/>
          <a:p>
            <a:pPr marL="0" indent="0">
              <a:buNone/>
            </a:pPr>
            <a:r>
              <a:rPr lang="en-US" sz="1100" b="1" dirty="0">
                <a:solidFill>
                  <a:srgbClr val="EF4444"/>
                </a:solidFill>
              </a:rPr>
              <a:t>✗  </a:t>
            </a:r>
            <a:r>
              <a:rPr lang="en-US" sz="1100" dirty="0">
                <a:solidFill>
                  <a:srgbClr val="475569"/>
                </a:solidFill>
              </a:rPr>
              <a:t>All training data weighted equally</a:t>
            </a:r>
            <a:endParaRPr lang="en-US" sz="1100" dirty="0"/>
          </a:p>
        </p:txBody>
      </p:sp>
      <p:sp>
        <p:nvSpPr>
          <p:cNvPr id="12" name="Text 10"/>
          <p:cNvSpPr/>
          <p:nvPr/>
        </p:nvSpPr>
        <p:spPr>
          <a:xfrm>
            <a:off x="4251960" y="2377440"/>
            <a:ext cx="640080" cy="457200"/>
          </a:xfrm>
          <a:prstGeom prst="rect">
            <a:avLst/>
          </a:prstGeom>
          <a:noFill/>
          <a:ln/>
        </p:spPr>
        <p:txBody>
          <a:bodyPr wrap="square" rtlCol="0" anchor="ctr"/>
          <a:lstStyle/>
          <a:p>
            <a:pPr marL="0" indent="0" algn="ctr">
              <a:buNone/>
            </a:pPr>
            <a:r>
              <a:rPr lang="en-US" sz="1400" b="1" dirty="0">
                <a:solidFill>
                  <a:srgbClr val="94A3B8"/>
                </a:solidFill>
              </a:rPr>
              <a:t>VS</a:t>
            </a:r>
            <a:endParaRPr lang="en-US" sz="1400" dirty="0"/>
          </a:p>
        </p:txBody>
      </p:sp>
      <p:sp>
        <p:nvSpPr>
          <p:cNvPr id="13" name="Text 11"/>
          <p:cNvSpPr/>
          <p:nvPr/>
        </p:nvSpPr>
        <p:spPr>
          <a:xfrm>
            <a:off x="4754880" y="914400"/>
            <a:ext cx="4114800" cy="329184"/>
          </a:xfrm>
          <a:prstGeom prst="rect">
            <a:avLst/>
          </a:prstGeom>
          <a:noFill/>
          <a:ln/>
        </p:spPr>
        <p:txBody>
          <a:bodyPr wrap="square" rtlCol="0" anchor="ctr"/>
          <a:lstStyle/>
          <a:p>
            <a:pPr marL="0" indent="0" algn="ctr">
              <a:buNone/>
            </a:pPr>
            <a:r>
              <a:rPr lang="en-US" sz="1200" b="1" dirty="0">
                <a:solidFill>
                  <a:srgbClr val="059669"/>
                </a:solidFill>
              </a:rPr>
              <a:t>This Strategy</a:t>
            </a:r>
            <a:endParaRPr lang="en-US" sz="1200" dirty="0"/>
          </a:p>
        </p:txBody>
      </p:sp>
      <p:sp>
        <p:nvSpPr>
          <p:cNvPr id="14" name="Shape 12"/>
          <p:cNvSpPr/>
          <p:nvPr/>
        </p:nvSpPr>
        <p:spPr>
          <a:xfrm>
            <a:off x="4754880" y="1261872"/>
            <a:ext cx="4114800" cy="2670048"/>
          </a:xfrm>
          <a:prstGeom prst="rect">
            <a:avLst/>
          </a:prstGeom>
          <a:solidFill>
            <a:srgbClr val="FFFFFF"/>
          </a:solidFill>
          <a:ln w="6350">
            <a:solidFill>
              <a:srgbClr val="E2E8F0"/>
            </a:solidFill>
            <a:prstDash val="solid"/>
          </a:ln>
          <a:effectLst>
            <a:outerShdw blurRad="152400" dist="25400" dir="8100000" algn="bl" rotWithShape="0">
              <a:srgbClr val="0F172A">
                <a:alpha val="7000"/>
              </a:srgbClr>
            </a:outerShdw>
          </a:effectLst>
        </p:spPr>
        <p:txBody>
          <a:bodyPr/>
          <a:lstStyle/>
          <a:p>
            <a:endParaRPr lang="en-US"/>
          </a:p>
        </p:txBody>
      </p:sp>
      <p:sp>
        <p:nvSpPr>
          <p:cNvPr id="15" name="Shape 13"/>
          <p:cNvSpPr/>
          <p:nvPr/>
        </p:nvSpPr>
        <p:spPr>
          <a:xfrm>
            <a:off x="4754880" y="1261872"/>
            <a:ext cx="4114800" cy="36576"/>
          </a:xfrm>
          <a:prstGeom prst="rect">
            <a:avLst/>
          </a:prstGeom>
          <a:solidFill>
            <a:srgbClr val="10B981"/>
          </a:solidFill>
          <a:ln w="12700">
            <a:solidFill>
              <a:srgbClr val="10B981"/>
            </a:solidFill>
            <a:prstDash val="solid"/>
          </a:ln>
        </p:spPr>
        <p:txBody>
          <a:bodyPr/>
          <a:lstStyle/>
          <a:p>
            <a:endParaRPr lang="en-US"/>
          </a:p>
        </p:txBody>
      </p:sp>
      <p:sp>
        <p:nvSpPr>
          <p:cNvPr id="16" name="Text 14"/>
          <p:cNvSpPr/>
          <p:nvPr/>
        </p:nvSpPr>
        <p:spPr>
          <a:xfrm>
            <a:off x="4919472" y="13716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a:solidFill>
                  <a:srgbClr val="475569"/>
                </a:solidFill>
              </a:rPr>
              <a:t>ML selection across all 400+ JKP characteristics</a:t>
            </a:r>
            <a:endParaRPr lang="en-US" sz="1100" dirty="0"/>
          </a:p>
        </p:txBody>
      </p:sp>
      <p:sp>
        <p:nvSpPr>
          <p:cNvPr id="17" name="Text 15"/>
          <p:cNvSpPr/>
          <p:nvPr/>
        </p:nvSpPr>
        <p:spPr>
          <a:xfrm>
            <a:off x="4919472" y="18288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err="1">
                <a:solidFill>
                  <a:srgbClr val="475569"/>
                </a:solidFill>
              </a:rPr>
              <a:t>XGBoost</a:t>
            </a:r>
            <a:r>
              <a:rPr lang="en-US" sz="1100" dirty="0">
                <a:solidFill>
                  <a:srgbClr val="475569"/>
                </a:solidFill>
              </a:rPr>
              <a:t>: non-linear + interaction effects</a:t>
            </a:r>
            <a:endParaRPr lang="en-US" sz="1100" dirty="0"/>
          </a:p>
        </p:txBody>
      </p:sp>
      <p:sp>
        <p:nvSpPr>
          <p:cNvPr id="18" name="Text 16"/>
          <p:cNvSpPr/>
          <p:nvPr/>
        </p:nvSpPr>
        <p:spPr>
          <a:xfrm>
            <a:off x="4919472" y="22860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a:solidFill>
                  <a:srgbClr val="475569"/>
                </a:solidFill>
              </a:rPr>
              <a:t>Ensemble (3 seeds) for prediction stability</a:t>
            </a:r>
            <a:endParaRPr lang="en-US" sz="1100" dirty="0"/>
          </a:p>
        </p:txBody>
      </p:sp>
      <p:sp>
        <p:nvSpPr>
          <p:cNvPr id="19" name="Text 17"/>
          <p:cNvSpPr/>
          <p:nvPr/>
        </p:nvSpPr>
        <p:spPr>
          <a:xfrm>
            <a:off x="4919472" y="2743200"/>
            <a:ext cx="3785616" cy="402336"/>
          </a:xfrm>
          <a:prstGeom prst="rect">
            <a:avLst/>
          </a:prstGeom>
          <a:noFill/>
          <a:ln/>
        </p:spPr>
        <p:txBody>
          <a:bodyPr wrap="square" rtlCol="0" anchor="ctr"/>
          <a:lstStyle/>
          <a:p>
            <a:pPr marL="0" indent="0">
              <a:buNone/>
            </a:pPr>
            <a:r>
              <a:rPr lang="en-US" sz="1100" b="1" dirty="0">
                <a:solidFill>
                  <a:srgbClr val="059669"/>
                </a:solidFill>
              </a:rPr>
              <a:t>✓  </a:t>
            </a:r>
            <a:r>
              <a:rPr lang="en-US" sz="1100" dirty="0">
                <a:solidFill>
                  <a:srgbClr val="475569"/>
                </a:solidFill>
              </a:rPr>
              <a:t>Rank-weight + capped VW</a:t>
            </a:r>
            <a:endParaRPr lang="en-US" sz="1100" dirty="0"/>
          </a:p>
        </p:txBody>
      </p:sp>
      <mc:AlternateContent xmlns:mc="http://schemas.openxmlformats.org/markup-compatibility/2006" xmlns:a14="http://schemas.microsoft.com/office/drawing/2010/main">
        <mc:Choice Requires="a14">
          <p:sp>
            <p:nvSpPr>
              <p:cNvPr id="20" name="Text 18"/>
              <p:cNvSpPr/>
              <p:nvPr/>
            </p:nvSpPr>
            <p:spPr>
              <a:xfrm>
                <a:off x="4919472" y="3200400"/>
                <a:ext cx="3785616" cy="402336"/>
              </a:xfrm>
              <a:prstGeom prst="rect">
                <a:avLst/>
              </a:prstGeom>
              <a:noFill/>
              <a:ln/>
            </p:spPr>
            <p:txBody>
              <a:bodyPr wrap="square" rtlCol="0" anchor="ctr"/>
              <a:lstStyle/>
              <a:p>
                <a:pPr marL="0" indent="0">
                  <a:buNone/>
                </a:pPr>
                <a:r>
                  <a:rPr lang="en-US" sz="1100" b="1" dirty="0">
                    <a:solidFill>
                      <a:srgbClr val="059669"/>
                    </a:solidFill>
                  </a:rPr>
                  <a:t>✓  </a:t>
                </a:r>
                <a14:m>
                  <m:oMath xmlns:m="http://schemas.openxmlformats.org/officeDocument/2006/math">
                    <m:r>
                      <a:rPr lang="en-US" sz="1100" dirty="0">
                        <a:solidFill>
                          <a:srgbClr val="475569"/>
                        </a:solidFill>
                        <a:latin typeface="Cambria Math" panose="02040503050406030204" pitchFamily="18" charset="0"/>
                      </a:rPr>
                      <m:t>𝑅𝑒𝑐𝑒𝑛𝑐𝑦</m:t>
                    </m:r>
                    <m:r>
                      <a:rPr lang="en-US" sz="1100" dirty="0">
                        <a:solidFill>
                          <a:srgbClr val="475569"/>
                        </a:solidFill>
                        <a:latin typeface="Cambria Math" panose="02040503050406030204" pitchFamily="18" charset="0"/>
                      </a:rPr>
                      <m:t> </m:t>
                    </m:r>
                    <m:r>
                      <a:rPr lang="en-US" sz="1100" dirty="0">
                        <a:solidFill>
                          <a:srgbClr val="475569"/>
                        </a:solidFill>
                        <a:latin typeface="Cambria Math" panose="02040503050406030204" pitchFamily="18" charset="0"/>
                      </a:rPr>
                      <m:t>𝑤𝑒𝑖𝑔h𝑡𝑖𝑛𝑔</m:t>
                    </m:r>
                    <m:r>
                      <a:rPr lang="en-US" sz="1100" dirty="0">
                        <a:solidFill>
                          <a:srgbClr val="475569"/>
                        </a:solidFill>
                        <a:latin typeface="Cambria Math" panose="02040503050406030204" pitchFamily="18" charset="0"/>
                      </a:rPr>
                      <m:t>:  </m:t>
                    </m:r>
                    <m:r>
                      <a:rPr lang="en-US" sz="1100" i="1" dirty="0">
                        <a:solidFill>
                          <a:srgbClr val="475569"/>
                        </a:solidFill>
                        <a:latin typeface="Cambria Math" panose="02040503050406030204" pitchFamily="18" charset="0"/>
                      </a:rPr>
                      <m:t>𝑤𝑒𝑖𝑔h𝑡</m:t>
                    </m:r>
                    <m:r>
                      <a:rPr lang="en-US" sz="1100" dirty="0">
                        <a:solidFill>
                          <a:srgbClr val="475569"/>
                        </a:solidFill>
                        <a:latin typeface="Cambria Math" panose="02040503050406030204" pitchFamily="18" charset="0"/>
                      </a:rPr>
                      <m:t> = </m:t>
                    </m:r>
                    <m:sSup>
                      <m:sSupPr>
                        <m:ctrlPr>
                          <a:rPr lang="en-US" sz="1100" i="1" dirty="0">
                            <a:solidFill>
                              <a:srgbClr val="475569"/>
                            </a:solidFill>
                            <a:latin typeface="Cambria Math" panose="02040503050406030204" pitchFamily="18" charset="0"/>
                          </a:rPr>
                        </m:ctrlPr>
                      </m:sSupPr>
                      <m:e>
                        <m:r>
                          <a:rPr lang="en-US" sz="1100" dirty="0">
                            <a:solidFill>
                              <a:srgbClr val="475569"/>
                            </a:solidFill>
                            <a:latin typeface="Cambria Math" panose="02040503050406030204" pitchFamily="18" charset="0"/>
                          </a:rPr>
                          <m:t>0.5</m:t>
                        </m:r>
                      </m:e>
                      <m:sup>
                        <m:f>
                          <m:fPr>
                            <m:ctrlPr>
                              <a:rPr lang="en-US" sz="1100" i="1" dirty="0">
                                <a:solidFill>
                                  <a:srgbClr val="475569"/>
                                </a:solidFill>
                                <a:latin typeface="Cambria Math" panose="02040503050406030204" pitchFamily="18" charset="0"/>
                              </a:rPr>
                            </m:ctrlPr>
                          </m:fPr>
                          <m:num>
                            <m:r>
                              <a:rPr lang="en-US" sz="1100" i="1" dirty="0">
                                <a:solidFill>
                                  <a:srgbClr val="475569"/>
                                </a:solidFill>
                                <a:latin typeface="Cambria Math" panose="02040503050406030204" pitchFamily="18" charset="0"/>
                              </a:rPr>
                              <m:t>𝑎𝑔𝑒</m:t>
                            </m:r>
                          </m:num>
                          <m:den>
                            <m:r>
                              <a:rPr lang="en-US" sz="1100" dirty="0">
                                <a:solidFill>
                                  <a:srgbClr val="475569"/>
                                </a:solidFill>
                                <a:latin typeface="Cambria Math" panose="02040503050406030204" pitchFamily="18" charset="0"/>
                              </a:rPr>
                              <m:t>120</m:t>
                            </m:r>
                          </m:den>
                        </m:f>
                      </m:sup>
                    </m:sSup>
                  </m:oMath>
                </a14:m>
                <a:endParaRPr lang="en-US" sz="1100" dirty="0"/>
              </a:p>
            </p:txBody>
          </p:sp>
        </mc:Choice>
        <mc:Fallback xmlns="">
          <p:sp>
            <p:nvSpPr>
              <p:cNvPr id="20" name="Text 18"/>
              <p:cNvSpPr>
                <a:spLocks noRot="1" noChangeAspect="1" noMove="1" noResize="1" noEditPoints="1" noAdjustHandles="1" noChangeArrowheads="1" noChangeShapeType="1" noTextEdit="1"/>
              </p:cNvSpPr>
              <p:nvPr/>
            </p:nvSpPr>
            <p:spPr>
              <a:xfrm>
                <a:off x="4919472" y="3200400"/>
                <a:ext cx="3785616" cy="402336"/>
              </a:xfrm>
              <a:prstGeom prst="rect">
                <a:avLst/>
              </a:prstGeom>
              <a:blipFill>
                <a:blip r:embed="rId3"/>
                <a:stretch>
                  <a:fillRect/>
                </a:stretch>
              </a:blipFill>
              <a:ln/>
            </p:spPr>
            <p:txBody>
              <a:bodyPr/>
              <a:lstStyle/>
              <a:p>
                <a:r>
                  <a:rPr lang="en-US">
                    <a:noFill/>
                  </a:rPr>
                  <a:t> </a:t>
                </a:r>
              </a:p>
            </p:txBody>
          </p:sp>
        </mc:Fallback>
      </mc:AlternateContent>
      <p:sp>
        <p:nvSpPr>
          <p:cNvPr id="21" name="Shape 19"/>
          <p:cNvSpPr/>
          <p:nvPr/>
        </p:nvSpPr>
        <p:spPr>
          <a:xfrm>
            <a:off x="274320" y="4078224"/>
            <a:ext cx="8595360" cy="804672"/>
          </a:xfrm>
          <a:prstGeom prst="rect">
            <a:avLst/>
          </a:prstGeom>
          <a:solidFill>
            <a:srgbClr val="F0FDF4"/>
          </a:solidFill>
          <a:ln w="10160">
            <a:solidFill>
              <a:srgbClr val="A7F3D0"/>
            </a:solidFill>
            <a:prstDash val="solid"/>
          </a:ln>
        </p:spPr>
        <p:txBody>
          <a:bodyPr/>
          <a:lstStyle/>
          <a:p>
            <a:endParaRPr lang="en-US"/>
          </a:p>
        </p:txBody>
      </p:sp>
      <mc:AlternateContent xmlns:mc="http://schemas.openxmlformats.org/markup-compatibility/2006" xmlns:a14="http://schemas.microsoft.com/office/drawing/2010/main">
        <mc:Choice Requires="a14">
          <p:sp>
            <p:nvSpPr>
              <p:cNvPr id="22" name="Text 20"/>
              <p:cNvSpPr/>
              <p:nvPr/>
            </p:nvSpPr>
            <p:spPr>
              <a:xfrm>
                <a:off x="457200" y="4133088"/>
                <a:ext cx="8229600" cy="329184"/>
              </a:xfrm>
              <a:prstGeom prst="rect">
                <a:avLst/>
              </a:prstGeom>
              <a:noFill/>
              <a:ln/>
            </p:spPr>
            <p:txBody>
              <a:bodyPr wrap="square" rtlCol="0" anchor="ctr"/>
              <a:lstStyle/>
              <a:p>
                <a:pPr marL="0" indent="0" algn="ctr">
                  <a:buNone/>
                </a:pPr>
                <a:r>
                  <a:rPr lang="en-US" sz="1100" b="1" dirty="0">
                    <a:solidFill>
                      <a:srgbClr val="059669"/>
                    </a:solidFill>
                  </a:rPr>
                  <a:t>Recency weighting:   </a:t>
                </a:r>
                <a14:m>
                  <m:oMath xmlns:m="http://schemas.openxmlformats.org/officeDocument/2006/math">
                    <m:r>
                      <a:rPr lang="en-US" sz="1100" i="1" dirty="0">
                        <a:solidFill>
                          <a:srgbClr val="1E293B"/>
                        </a:solidFill>
                        <a:latin typeface="Cambria Math" panose="02040503050406030204" pitchFamily="18" charset="0"/>
                      </a:rPr>
                      <m:t>𝑤𝑒𝑖𝑔h𝑡</m:t>
                    </m:r>
                    <m:r>
                      <a:rPr lang="en-US" sz="1100" dirty="0">
                        <a:solidFill>
                          <a:srgbClr val="1E293B"/>
                        </a:solidFill>
                        <a:latin typeface="Cambria Math" panose="02040503050406030204" pitchFamily="18" charset="0"/>
                      </a:rPr>
                      <m:t> = </m:t>
                    </m:r>
                    <m:sSup>
                      <m:sSupPr>
                        <m:ctrlPr>
                          <a:rPr lang="en-US" sz="1100" i="1" dirty="0">
                            <a:solidFill>
                              <a:srgbClr val="1E293B"/>
                            </a:solidFill>
                            <a:latin typeface="Cambria Math" panose="02040503050406030204" pitchFamily="18" charset="0"/>
                          </a:rPr>
                        </m:ctrlPr>
                      </m:sSupPr>
                      <m:e>
                        <m:r>
                          <a:rPr lang="en-US" sz="1100" dirty="0">
                            <a:solidFill>
                              <a:srgbClr val="1E293B"/>
                            </a:solidFill>
                            <a:latin typeface="Cambria Math" panose="02040503050406030204" pitchFamily="18" charset="0"/>
                          </a:rPr>
                          <m:t>0.5</m:t>
                        </m:r>
                      </m:e>
                      <m:sup>
                        <m:f>
                          <m:fPr>
                            <m:ctrlPr>
                              <a:rPr lang="en-US" sz="1100" i="1" dirty="0">
                                <a:solidFill>
                                  <a:srgbClr val="1E293B"/>
                                </a:solidFill>
                                <a:latin typeface="Cambria Math" panose="02040503050406030204" pitchFamily="18" charset="0"/>
                              </a:rPr>
                            </m:ctrlPr>
                          </m:fPr>
                          <m:num>
                            <m:r>
                              <a:rPr lang="en-US" sz="1100" i="1" dirty="0">
                                <a:solidFill>
                                  <a:srgbClr val="1E293B"/>
                                </a:solidFill>
                                <a:latin typeface="Cambria Math" panose="02040503050406030204" pitchFamily="18" charset="0"/>
                              </a:rPr>
                              <m:t>𝑎𝑔𝑒</m:t>
                            </m:r>
                          </m:num>
                          <m:den>
                            <m:r>
                              <a:rPr lang="en-US" sz="1100" i="1" dirty="0">
                                <a:solidFill>
                                  <a:srgbClr val="1E293B"/>
                                </a:solidFill>
                                <a:latin typeface="Cambria Math" panose="02040503050406030204" pitchFamily="18" charset="0"/>
                              </a:rPr>
                              <m:t>h𝑎𝑙𝑓</m:t>
                            </m:r>
                            <m:r>
                              <a:rPr lang="en-US" sz="1100" i="1" dirty="0">
                                <a:solidFill>
                                  <a:srgbClr val="1E293B"/>
                                </a:solidFill>
                                <a:latin typeface="Cambria Math" panose="02040503050406030204" pitchFamily="18" charset="0"/>
                              </a:rPr>
                              <m:t>‑</m:t>
                            </m:r>
                            <m:r>
                              <a:rPr lang="en-US" sz="1100" i="1" dirty="0">
                                <a:solidFill>
                                  <a:srgbClr val="1E293B"/>
                                </a:solidFill>
                                <a:latin typeface="Cambria Math" panose="02040503050406030204" pitchFamily="18" charset="0"/>
                              </a:rPr>
                              <m:t>𝑙𝑖𝑓𝑒</m:t>
                            </m:r>
                          </m:den>
                        </m:f>
                      </m:sup>
                    </m:sSup>
                  </m:oMath>
                </a14:m>
                <a:endParaRPr lang="en-US" sz="1100" dirty="0"/>
              </a:p>
            </p:txBody>
          </p:sp>
        </mc:Choice>
        <mc:Fallback xmlns="">
          <p:sp>
            <p:nvSpPr>
              <p:cNvPr id="22" name="Text 20"/>
              <p:cNvSpPr>
                <a:spLocks noRot="1" noChangeAspect="1" noMove="1" noResize="1" noEditPoints="1" noAdjustHandles="1" noChangeArrowheads="1" noChangeShapeType="1" noTextEdit="1"/>
              </p:cNvSpPr>
              <p:nvPr/>
            </p:nvSpPr>
            <p:spPr>
              <a:xfrm>
                <a:off x="457200" y="4133088"/>
                <a:ext cx="8229600" cy="329184"/>
              </a:xfrm>
              <a:prstGeom prst="rect">
                <a:avLst/>
              </a:prstGeom>
              <a:blipFill>
                <a:blip r:embed="rId4"/>
                <a:stretch>
                  <a:fillRect b="-11111"/>
                </a:stretch>
              </a:blipFill>
              <a:ln/>
            </p:spPr>
            <p:txBody>
              <a:bodyPr/>
              <a:lstStyle/>
              <a:p>
                <a:r>
                  <a:rPr lang="en-US">
                    <a:noFill/>
                  </a:rPr>
                  <a:t> </a:t>
                </a:r>
              </a:p>
            </p:txBody>
          </p:sp>
        </mc:Fallback>
      </mc:AlternateContent>
      <p:sp>
        <p:nvSpPr>
          <p:cNvPr id="23" name="Text 21"/>
          <p:cNvSpPr/>
          <p:nvPr/>
        </p:nvSpPr>
        <p:spPr>
          <a:xfrm>
            <a:off x="457200" y="4462272"/>
            <a:ext cx="8229600" cy="256032"/>
          </a:xfrm>
          <a:prstGeom prst="rect">
            <a:avLst/>
          </a:prstGeom>
          <a:noFill/>
          <a:ln/>
        </p:spPr>
        <p:txBody>
          <a:bodyPr wrap="square" rtlCol="0" anchor="ctr"/>
          <a:lstStyle/>
          <a:p>
            <a:pPr marL="0" indent="0" algn="ctr">
              <a:buNone/>
            </a:pPr>
            <a:r>
              <a:rPr lang="en-US" sz="950" dirty="0">
                <a:solidFill>
                  <a:srgbClr val="1E293B"/>
                </a:solidFill>
              </a:rPr>
              <a:t>half‑life</a:t>
            </a:r>
            <a:r>
              <a:rPr lang="en-US" sz="950" dirty="0">
                <a:solidFill>
                  <a:srgbClr val="475569"/>
                </a:solidFill>
              </a:rPr>
              <a:t> = ∞: all months equal weight  | </a:t>
            </a:r>
            <a:r>
              <a:rPr lang="en-US" sz="950" dirty="0">
                <a:solidFill>
                  <a:srgbClr val="1E293B"/>
                </a:solidFill>
              </a:rPr>
              <a:t>half‑life</a:t>
            </a:r>
            <a:r>
              <a:rPr lang="en-US" sz="950" dirty="0">
                <a:solidFill>
                  <a:srgbClr val="475569"/>
                </a:solidFill>
              </a:rPr>
              <a:t> = 60: 5‑yr‑old data → half weight  | </a:t>
            </a:r>
            <a:r>
              <a:rPr lang="en-US" sz="950" b="1" dirty="0">
                <a:solidFill>
                  <a:srgbClr val="059669"/>
                </a:solidFill>
              </a:rPr>
              <a:t>half‑life = 120 (chosen): 10‑yr‑old data → half weight</a:t>
            </a:r>
          </a:p>
        </p:txBody>
      </p:sp>
    </p:spTree>
    <p:extLst>
      <p:ext uri="{BB962C8B-B14F-4D97-AF65-F5344CB8AC3E}">
        <p14:creationId xmlns:p14="http://schemas.microsoft.com/office/powerpoint/2010/main" val="3107097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411480" y="164592"/>
            <a:ext cx="8412480" cy="201168"/>
          </a:xfrm>
          <a:prstGeom prst="rect">
            <a:avLst/>
          </a:prstGeom>
          <a:noFill/>
          <a:ln/>
        </p:spPr>
        <p:txBody>
          <a:bodyPr wrap="square" rtlCol="0" anchor="ctr"/>
          <a:lstStyle/>
          <a:p>
            <a:pPr marL="0" indent="0" algn="l">
              <a:buNone/>
            </a:pPr>
            <a:endParaRPr lang="en-US" sz="750" dirty="0"/>
          </a:p>
        </p:txBody>
      </p:sp>
      <p:sp>
        <p:nvSpPr>
          <p:cNvPr id="3" name="Text 1"/>
          <p:cNvSpPr/>
          <p:nvPr/>
        </p:nvSpPr>
        <p:spPr>
          <a:xfrm>
            <a:off x="411480" y="301752"/>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Limitations &amp; What I'd Do Next</a:t>
            </a:r>
            <a:endParaRPr lang="en-US" sz="2600" dirty="0"/>
          </a:p>
        </p:txBody>
      </p:sp>
      <p:sp>
        <p:nvSpPr>
          <p:cNvPr id="4" name="Text 2"/>
          <p:cNvSpPr/>
          <p:nvPr/>
        </p:nvSpPr>
        <p:spPr>
          <a:xfrm>
            <a:off x="365760" y="960120"/>
            <a:ext cx="4023360" cy="201168"/>
          </a:xfrm>
          <a:prstGeom prst="rect">
            <a:avLst/>
          </a:prstGeom>
          <a:noFill/>
          <a:ln/>
        </p:spPr>
        <p:txBody>
          <a:bodyPr wrap="square" rtlCol="0" anchor="ctr"/>
          <a:lstStyle/>
          <a:p>
            <a:pPr marL="0" indent="0" algn="ctr">
              <a:buNone/>
            </a:pPr>
            <a:r>
              <a:rPr lang="en-US" sz="750" b="1" kern="0" spc="350" dirty="0">
                <a:solidFill>
                  <a:srgbClr val="F87171"/>
                </a:solidFill>
              </a:rPr>
              <a:t>LIMITATIONS</a:t>
            </a:r>
            <a:endParaRPr lang="en-US" sz="750" dirty="0"/>
          </a:p>
        </p:txBody>
      </p:sp>
      <p:sp>
        <p:nvSpPr>
          <p:cNvPr id="5" name="Text 3"/>
          <p:cNvSpPr/>
          <p:nvPr/>
        </p:nvSpPr>
        <p:spPr>
          <a:xfrm>
            <a:off x="4754880" y="960120"/>
            <a:ext cx="4023360" cy="201168"/>
          </a:xfrm>
          <a:prstGeom prst="rect">
            <a:avLst/>
          </a:prstGeom>
          <a:noFill/>
          <a:ln/>
        </p:spPr>
        <p:txBody>
          <a:bodyPr wrap="square" rtlCol="0" anchor="ctr"/>
          <a:lstStyle/>
          <a:p>
            <a:pPr marL="0" indent="0" algn="ctr">
              <a:buNone/>
            </a:pPr>
            <a:r>
              <a:rPr lang="en-US" sz="750" b="1" kern="0" spc="350" dirty="0">
                <a:solidFill>
                  <a:srgbClr val="10B981"/>
                </a:solidFill>
              </a:rPr>
              <a:t>NEXT STEPS</a:t>
            </a:r>
            <a:endParaRPr lang="en-US" sz="750" dirty="0"/>
          </a:p>
        </p:txBody>
      </p:sp>
      <p:sp>
        <p:nvSpPr>
          <p:cNvPr id="6" name="Shape 4"/>
          <p:cNvSpPr/>
          <p:nvPr/>
        </p:nvSpPr>
        <p:spPr>
          <a:xfrm>
            <a:off x="365760" y="1188720"/>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7" name="Shape 5"/>
          <p:cNvSpPr/>
          <p:nvPr/>
        </p:nvSpPr>
        <p:spPr>
          <a:xfrm>
            <a:off x="365760" y="1188720"/>
            <a:ext cx="109728" cy="1024128"/>
          </a:xfrm>
          <a:prstGeom prst="rect">
            <a:avLst/>
          </a:prstGeom>
          <a:solidFill>
            <a:srgbClr val="F87171"/>
          </a:solidFill>
          <a:ln w="12700">
            <a:solidFill>
              <a:srgbClr val="F87171"/>
            </a:solidFill>
            <a:prstDash val="solid"/>
          </a:ln>
        </p:spPr>
        <p:txBody>
          <a:bodyPr/>
          <a:lstStyle/>
          <a:p>
            <a:endParaRPr lang="en-US"/>
          </a:p>
        </p:txBody>
      </p:sp>
      <p:sp>
        <p:nvSpPr>
          <p:cNvPr id="8" name="Text 6"/>
          <p:cNvSpPr/>
          <p:nvPr/>
        </p:nvSpPr>
        <p:spPr>
          <a:xfrm>
            <a:off x="566928" y="1252728"/>
            <a:ext cx="3657600" cy="310896"/>
          </a:xfrm>
          <a:prstGeom prst="rect">
            <a:avLst/>
          </a:prstGeom>
          <a:noFill/>
          <a:ln/>
        </p:spPr>
        <p:txBody>
          <a:bodyPr wrap="square" rtlCol="0" anchor="ctr"/>
          <a:lstStyle/>
          <a:p>
            <a:pPr marL="0" indent="0">
              <a:buNone/>
            </a:pPr>
            <a:r>
              <a:rPr lang="en-US" sz="1150" b="1" dirty="0">
                <a:solidFill>
                  <a:srgbClr val="FFFFFF"/>
                </a:solidFill>
              </a:rPr>
              <a:t>📉  Not currently tradable</a:t>
            </a:r>
            <a:endParaRPr lang="en-US" sz="1150" dirty="0"/>
          </a:p>
        </p:txBody>
      </p:sp>
      <p:sp>
        <p:nvSpPr>
          <p:cNvPr id="9" name="Text 7"/>
          <p:cNvSpPr/>
          <p:nvPr/>
        </p:nvSpPr>
        <p:spPr>
          <a:xfrm>
            <a:off x="566928" y="1563624"/>
            <a:ext cx="3657600" cy="548640"/>
          </a:xfrm>
          <a:prstGeom prst="rect">
            <a:avLst/>
          </a:prstGeom>
          <a:noFill/>
          <a:ln/>
        </p:spPr>
        <p:txBody>
          <a:bodyPr wrap="square" rtlCol="0" anchor="ctr"/>
          <a:lstStyle/>
          <a:p>
            <a:pPr marL="0" indent="0">
              <a:buNone/>
            </a:pPr>
            <a:r>
              <a:rPr lang="en-US" sz="1000" dirty="0">
                <a:solidFill>
                  <a:srgbClr val="94A3B8"/>
                </a:solidFill>
              </a:rPr>
              <a:t>Net of costs, negative Sharpe in the 2020s. The honest finding: it no longer generates alpha.</a:t>
            </a:r>
            <a:endParaRPr lang="en-US" sz="1000" dirty="0"/>
          </a:p>
        </p:txBody>
      </p:sp>
      <p:sp>
        <p:nvSpPr>
          <p:cNvPr id="10" name="Shape 8"/>
          <p:cNvSpPr/>
          <p:nvPr/>
        </p:nvSpPr>
        <p:spPr>
          <a:xfrm>
            <a:off x="365760" y="2359152"/>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11" name="Shape 9"/>
          <p:cNvSpPr/>
          <p:nvPr/>
        </p:nvSpPr>
        <p:spPr>
          <a:xfrm>
            <a:off x="365760" y="2359152"/>
            <a:ext cx="109728" cy="1024128"/>
          </a:xfrm>
          <a:prstGeom prst="rect">
            <a:avLst/>
          </a:prstGeom>
          <a:solidFill>
            <a:srgbClr val="F87171"/>
          </a:solidFill>
          <a:ln w="12700">
            <a:solidFill>
              <a:srgbClr val="F87171"/>
            </a:solidFill>
            <a:prstDash val="solid"/>
          </a:ln>
        </p:spPr>
        <p:txBody>
          <a:bodyPr/>
          <a:lstStyle/>
          <a:p>
            <a:endParaRPr lang="en-US"/>
          </a:p>
        </p:txBody>
      </p:sp>
      <p:sp>
        <p:nvSpPr>
          <p:cNvPr id="12" name="Text 10"/>
          <p:cNvSpPr/>
          <p:nvPr/>
        </p:nvSpPr>
        <p:spPr>
          <a:xfrm>
            <a:off x="566928" y="2423160"/>
            <a:ext cx="3657600" cy="310896"/>
          </a:xfrm>
          <a:prstGeom prst="rect">
            <a:avLst/>
          </a:prstGeom>
          <a:noFill/>
          <a:ln/>
        </p:spPr>
        <p:txBody>
          <a:bodyPr wrap="square" rtlCol="0" anchor="ctr"/>
          <a:lstStyle/>
          <a:p>
            <a:pPr marL="0" indent="0">
              <a:buNone/>
            </a:pPr>
            <a:r>
              <a:rPr lang="en-US" sz="1150" b="1" dirty="0">
                <a:solidFill>
                  <a:srgbClr val="FFFFFF"/>
                </a:solidFill>
              </a:rPr>
              <a:t>🏦  Crowded factor exposure</a:t>
            </a:r>
            <a:endParaRPr lang="en-US" sz="1150" dirty="0"/>
          </a:p>
        </p:txBody>
      </p:sp>
      <p:sp>
        <p:nvSpPr>
          <p:cNvPr id="13" name="Text 11"/>
          <p:cNvSpPr/>
          <p:nvPr/>
        </p:nvSpPr>
        <p:spPr>
          <a:xfrm>
            <a:off x="566928" y="2734056"/>
            <a:ext cx="3657600" cy="548640"/>
          </a:xfrm>
          <a:prstGeom prst="rect">
            <a:avLst/>
          </a:prstGeom>
          <a:noFill/>
          <a:ln/>
        </p:spPr>
        <p:txBody>
          <a:bodyPr wrap="square" rtlCol="0" anchor="ctr"/>
          <a:lstStyle/>
          <a:p>
            <a:pPr marL="0" indent="0">
              <a:buNone/>
            </a:pPr>
            <a:r>
              <a:rPr lang="en-US" sz="1000" dirty="0">
                <a:solidFill>
                  <a:srgbClr val="94A3B8"/>
                </a:solidFill>
              </a:rPr>
              <a:t>Momentum + reversal + value = most replicated factors. Alpha arbitraged away as quant AUM grew.</a:t>
            </a:r>
            <a:endParaRPr lang="en-US" sz="1000" dirty="0"/>
          </a:p>
        </p:txBody>
      </p:sp>
      <p:sp>
        <p:nvSpPr>
          <p:cNvPr id="14" name="Shape 12"/>
          <p:cNvSpPr/>
          <p:nvPr/>
        </p:nvSpPr>
        <p:spPr>
          <a:xfrm>
            <a:off x="365760" y="3529584"/>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15" name="Shape 13"/>
          <p:cNvSpPr/>
          <p:nvPr/>
        </p:nvSpPr>
        <p:spPr>
          <a:xfrm>
            <a:off x="365760" y="3529584"/>
            <a:ext cx="109728" cy="1024128"/>
          </a:xfrm>
          <a:prstGeom prst="rect">
            <a:avLst/>
          </a:prstGeom>
          <a:solidFill>
            <a:srgbClr val="F87171"/>
          </a:solidFill>
          <a:ln w="12700">
            <a:solidFill>
              <a:srgbClr val="F87171"/>
            </a:solidFill>
            <a:prstDash val="solid"/>
          </a:ln>
        </p:spPr>
        <p:txBody>
          <a:bodyPr/>
          <a:lstStyle/>
          <a:p>
            <a:endParaRPr lang="en-US"/>
          </a:p>
        </p:txBody>
      </p:sp>
      <p:sp>
        <p:nvSpPr>
          <p:cNvPr id="16" name="Text 14"/>
          <p:cNvSpPr/>
          <p:nvPr/>
        </p:nvSpPr>
        <p:spPr>
          <a:xfrm>
            <a:off x="566928" y="3593592"/>
            <a:ext cx="3657600" cy="310896"/>
          </a:xfrm>
          <a:prstGeom prst="rect">
            <a:avLst/>
          </a:prstGeom>
          <a:noFill/>
          <a:ln/>
        </p:spPr>
        <p:txBody>
          <a:bodyPr wrap="square" rtlCol="0" anchor="ctr"/>
          <a:lstStyle/>
          <a:p>
            <a:pPr marL="0" indent="0">
              <a:buNone/>
            </a:pPr>
            <a:r>
              <a:rPr lang="en-US" sz="1150" b="1" dirty="0">
                <a:solidFill>
                  <a:srgbClr val="FFFFFF"/>
                </a:solidFill>
              </a:rPr>
              <a:t>↩  High turnover drag</a:t>
            </a:r>
            <a:endParaRPr lang="en-US" sz="1150" dirty="0"/>
          </a:p>
        </p:txBody>
      </p:sp>
      <p:sp>
        <p:nvSpPr>
          <p:cNvPr id="17" name="Text 15"/>
          <p:cNvSpPr/>
          <p:nvPr/>
        </p:nvSpPr>
        <p:spPr>
          <a:xfrm>
            <a:off x="566928" y="3904488"/>
            <a:ext cx="3657600" cy="548640"/>
          </a:xfrm>
          <a:prstGeom prst="rect">
            <a:avLst/>
          </a:prstGeom>
          <a:noFill/>
          <a:ln/>
        </p:spPr>
        <p:txBody>
          <a:bodyPr wrap="square" rtlCol="0" anchor="ctr"/>
          <a:lstStyle/>
          <a:p>
            <a:pPr marL="0" indent="0">
              <a:buNone/>
            </a:pPr>
            <a:r>
              <a:rPr lang="en-US" sz="1000" dirty="0">
                <a:solidFill>
                  <a:srgbClr val="94A3B8"/>
                </a:solidFill>
              </a:rPr>
              <a:t>5× annual at 10 bps transaction cost eats into gross. Lower-frequency signals would survive costs better.</a:t>
            </a:r>
            <a:endParaRPr lang="en-US" sz="1000" dirty="0"/>
          </a:p>
        </p:txBody>
      </p:sp>
      <p:sp>
        <p:nvSpPr>
          <p:cNvPr id="18" name="Shape 16"/>
          <p:cNvSpPr/>
          <p:nvPr/>
        </p:nvSpPr>
        <p:spPr>
          <a:xfrm>
            <a:off x="4754880" y="1188720"/>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19" name="Shape 17"/>
          <p:cNvSpPr/>
          <p:nvPr/>
        </p:nvSpPr>
        <p:spPr>
          <a:xfrm>
            <a:off x="4754880" y="1188720"/>
            <a:ext cx="109728" cy="1024128"/>
          </a:xfrm>
          <a:prstGeom prst="rect">
            <a:avLst/>
          </a:prstGeom>
          <a:solidFill>
            <a:srgbClr val="10B981"/>
          </a:solidFill>
          <a:ln w="12700">
            <a:solidFill>
              <a:srgbClr val="10B981"/>
            </a:solidFill>
            <a:prstDash val="solid"/>
          </a:ln>
        </p:spPr>
        <p:txBody>
          <a:bodyPr/>
          <a:lstStyle/>
          <a:p>
            <a:endParaRPr lang="en-US"/>
          </a:p>
        </p:txBody>
      </p:sp>
      <p:sp>
        <p:nvSpPr>
          <p:cNvPr id="20" name="Text 18"/>
          <p:cNvSpPr/>
          <p:nvPr/>
        </p:nvSpPr>
        <p:spPr>
          <a:xfrm>
            <a:off x="4956048" y="1252728"/>
            <a:ext cx="3657600" cy="310896"/>
          </a:xfrm>
          <a:prstGeom prst="rect">
            <a:avLst/>
          </a:prstGeom>
          <a:noFill/>
          <a:ln/>
        </p:spPr>
        <p:txBody>
          <a:bodyPr wrap="square" rtlCol="0" anchor="ctr"/>
          <a:lstStyle/>
          <a:p>
            <a:pPr marL="0" indent="0">
              <a:buNone/>
            </a:pPr>
            <a:r>
              <a:rPr lang="en-US" sz="1150" b="1" dirty="0">
                <a:solidFill>
                  <a:srgbClr val="10B981"/>
                </a:solidFill>
              </a:rPr>
              <a:t>🌐  Alternative data</a:t>
            </a:r>
            <a:endParaRPr lang="en-US" sz="1150" dirty="0"/>
          </a:p>
        </p:txBody>
      </p:sp>
      <p:sp>
        <p:nvSpPr>
          <p:cNvPr id="21" name="Text 19"/>
          <p:cNvSpPr/>
          <p:nvPr/>
        </p:nvSpPr>
        <p:spPr>
          <a:xfrm>
            <a:off x="4956048" y="1563624"/>
            <a:ext cx="3657600" cy="548640"/>
          </a:xfrm>
          <a:prstGeom prst="rect">
            <a:avLst/>
          </a:prstGeom>
          <a:noFill/>
          <a:ln/>
        </p:spPr>
        <p:txBody>
          <a:bodyPr wrap="square" rtlCol="0" anchor="ctr"/>
          <a:lstStyle/>
          <a:p>
            <a:pPr marL="0" indent="0">
              <a:buNone/>
            </a:pPr>
            <a:r>
              <a:rPr lang="en-US" sz="1000" dirty="0">
                <a:solidFill>
                  <a:srgbClr val="94A3B8"/>
                </a:solidFill>
              </a:rPr>
              <a:t>Sentiment, satellite, web signals are not as heavily mined as accounting factors.</a:t>
            </a:r>
            <a:endParaRPr lang="en-US" sz="1000" dirty="0"/>
          </a:p>
        </p:txBody>
      </p:sp>
      <p:sp>
        <p:nvSpPr>
          <p:cNvPr id="22" name="Shape 20"/>
          <p:cNvSpPr/>
          <p:nvPr/>
        </p:nvSpPr>
        <p:spPr>
          <a:xfrm>
            <a:off x="4754880" y="2359152"/>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23" name="Shape 21"/>
          <p:cNvSpPr/>
          <p:nvPr/>
        </p:nvSpPr>
        <p:spPr>
          <a:xfrm>
            <a:off x="4754880" y="2359152"/>
            <a:ext cx="109728" cy="1024128"/>
          </a:xfrm>
          <a:prstGeom prst="rect">
            <a:avLst/>
          </a:prstGeom>
          <a:solidFill>
            <a:srgbClr val="10B981"/>
          </a:solidFill>
          <a:ln w="12700">
            <a:solidFill>
              <a:srgbClr val="10B981"/>
            </a:solidFill>
            <a:prstDash val="solid"/>
          </a:ln>
        </p:spPr>
        <p:txBody>
          <a:bodyPr/>
          <a:lstStyle/>
          <a:p>
            <a:endParaRPr lang="en-US"/>
          </a:p>
        </p:txBody>
      </p:sp>
      <p:sp>
        <p:nvSpPr>
          <p:cNvPr id="24" name="Text 22"/>
          <p:cNvSpPr/>
          <p:nvPr/>
        </p:nvSpPr>
        <p:spPr>
          <a:xfrm>
            <a:off x="4956048" y="2423160"/>
            <a:ext cx="3657600" cy="310896"/>
          </a:xfrm>
          <a:prstGeom prst="rect">
            <a:avLst/>
          </a:prstGeom>
          <a:noFill/>
          <a:ln/>
        </p:spPr>
        <p:txBody>
          <a:bodyPr wrap="square" rtlCol="0" anchor="ctr"/>
          <a:lstStyle/>
          <a:p>
            <a:pPr marL="0" indent="0">
              <a:buNone/>
            </a:pPr>
            <a:r>
              <a:rPr lang="en-US" sz="1150" b="1" dirty="0">
                <a:solidFill>
                  <a:srgbClr val="10B981"/>
                </a:solidFill>
              </a:rPr>
              <a:t>🔄  Regime-aware training</a:t>
            </a:r>
            <a:endParaRPr lang="en-US" sz="1150" dirty="0"/>
          </a:p>
        </p:txBody>
      </p:sp>
      <p:sp>
        <p:nvSpPr>
          <p:cNvPr id="25" name="Text 23"/>
          <p:cNvSpPr/>
          <p:nvPr/>
        </p:nvSpPr>
        <p:spPr>
          <a:xfrm>
            <a:off x="4956048" y="2734056"/>
            <a:ext cx="3657600" cy="548640"/>
          </a:xfrm>
          <a:prstGeom prst="rect">
            <a:avLst/>
          </a:prstGeom>
          <a:noFill/>
          <a:ln/>
        </p:spPr>
        <p:txBody>
          <a:bodyPr wrap="square" rtlCol="0" anchor="ctr"/>
          <a:lstStyle/>
          <a:p>
            <a:pPr marL="0" indent="0">
              <a:buNone/>
            </a:pPr>
            <a:r>
              <a:rPr lang="en-US" sz="1000" dirty="0">
                <a:solidFill>
                  <a:srgbClr val="94A3B8"/>
                </a:solidFill>
              </a:rPr>
              <a:t>Half-life = 120m implemented. Extend to explicit regime detection to reduce weight on pre-2010 data aggressively.</a:t>
            </a:r>
            <a:endParaRPr lang="en-US" sz="1000" dirty="0"/>
          </a:p>
        </p:txBody>
      </p:sp>
      <p:sp>
        <p:nvSpPr>
          <p:cNvPr id="26" name="Shape 24"/>
          <p:cNvSpPr/>
          <p:nvPr/>
        </p:nvSpPr>
        <p:spPr>
          <a:xfrm>
            <a:off x="4754880" y="3529584"/>
            <a:ext cx="4023360" cy="1024128"/>
          </a:xfrm>
          <a:prstGeom prst="rect">
            <a:avLst/>
          </a:prstGeom>
          <a:solidFill>
            <a:srgbClr val="334155"/>
          </a:solidFill>
          <a:ln w="6350">
            <a:solidFill>
              <a:srgbClr val="3B4F68"/>
            </a:solidFill>
            <a:prstDash val="solid"/>
          </a:ln>
          <a:effectLst>
            <a:outerShdw blurRad="152400" dist="25400" dir="8100000" algn="bl" rotWithShape="0">
              <a:srgbClr val="0F172A">
                <a:alpha val="7000"/>
              </a:srgbClr>
            </a:outerShdw>
          </a:effectLst>
        </p:spPr>
        <p:txBody>
          <a:bodyPr/>
          <a:lstStyle/>
          <a:p>
            <a:endParaRPr lang="en-US"/>
          </a:p>
        </p:txBody>
      </p:sp>
      <p:sp>
        <p:nvSpPr>
          <p:cNvPr id="27" name="Shape 25"/>
          <p:cNvSpPr/>
          <p:nvPr/>
        </p:nvSpPr>
        <p:spPr>
          <a:xfrm>
            <a:off x="4754880" y="3529584"/>
            <a:ext cx="109728" cy="1024128"/>
          </a:xfrm>
          <a:prstGeom prst="rect">
            <a:avLst/>
          </a:prstGeom>
          <a:solidFill>
            <a:srgbClr val="10B981"/>
          </a:solidFill>
          <a:ln w="12700">
            <a:solidFill>
              <a:srgbClr val="10B981"/>
            </a:solidFill>
            <a:prstDash val="solid"/>
          </a:ln>
        </p:spPr>
        <p:txBody>
          <a:bodyPr/>
          <a:lstStyle/>
          <a:p>
            <a:endParaRPr lang="en-US"/>
          </a:p>
        </p:txBody>
      </p:sp>
      <p:sp>
        <p:nvSpPr>
          <p:cNvPr id="28" name="Text 26"/>
          <p:cNvSpPr/>
          <p:nvPr/>
        </p:nvSpPr>
        <p:spPr>
          <a:xfrm>
            <a:off x="4956048" y="3593592"/>
            <a:ext cx="3657600" cy="310896"/>
          </a:xfrm>
          <a:prstGeom prst="rect">
            <a:avLst/>
          </a:prstGeom>
          <a:noFill/>
          <a:ln/>
        </p:spPr>
        <p:txBody>
          <a:bodyPr wrap="square" rtlCol="0" anchor="ctr"/>
          <a:lstStyle/>
          <a:p>
            <a:pPr marL="0" indent="0">
              <a:buNone/>
            </a:pPr>
            <a:r>
              <a:rPr lang="en-US" sz="1150" b="1" dirty="0">
                <a:solidFill>
                  <a:srgbClr val="10B981"/>
                </a:solidFill>
              </a:rPr>
              <a:t>🧠  Non-linear interactions</a:t>
            </a:r>
            <a:endParaRPr lang="en-US" sz="1150" dirty="0"/>
          </a:p>
        </p:txBody>
      </p:sp>
      <p:sp>
        <p:nvSpPr>
          <p:cNvPr id="29" name="Text 27"/>
          <p:cNvSpPr/>
          <p:nvPr/>
        </p:nvSpPr>
        <p:spPr>
          <a:xfrm>
            <a:off x="4956048" y="3904488"/>
            <a:ext cx="3657600" cy="548640"/>
          </a:xfrm>
          <a:prstGeom prst="rect">
            <a:avLst/>
          </a:prstGeom>
          <a:noFill/>
          <a:ln/>
        </p:spPr>
        <p:txBody>
          <a:bodyPr wrap="square" rtlCol="0" anchor="ctr"/>
          <a:lstStyle/>
          <a:p>
            <a:pPr marL="0" indent="0">
              <a:buNone/>
            </a:pPr>
            <a:r>
              <a:rPr lang="en-US" sz="1000" dirty="0">
                <a:solidFill>
                  <a:srgbClr val="94A3B8"/>
                </a:solidFill>
              </a:rPr>
              <a:t>XGBoost already captures these implicitly. Explicitly engineer momentum × quality features to test additive lift.</a:t>
            </a:r>
            <a:endParaRPr lang="en-US" sz="1000" dirty="0"/>
          </a:p>
        </p:txBody>
      </p:sp>
      <p:sp>
        <p:nvSpPr>
          <p:cNvPr id="30" name="Text 28"/>
          <p:cNvSpPr/>
          <p:nvPr/>
        </p:nvSpPr>
        <p:spPr>
          <a:xfrm>
            <a:off x="411480" y="4791456"/>
            <a:ext cx="8321040" cy="201168"/>
          </a:xfrm>
          <a:prstGeom prst="rect">
            <a:avLst/>
          </a:prstGeom>
          <a:noFill/>
          <a:ln/>
        </p:spPr>
        <p:txBody>
          <a:bodyPr wrap="square" rtlCol="0" anchor="ctr"/>
          <a:lstStyle/>
          <a:p>
            <a:pPr marL="0" indent="0" algn="ctr">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5958BE-1BD2-8040-8BB6-600FDF1734D8}">
  <we:reference id="wa200010001" version="1.0.0.1" store="en-US" storeType="OMEX"/>
  <we:alternateReferences>
    <we:reference id="wa200010001" version="1.0.0.1" store="en-US" storeType="OMEX"/>
  </we:alternateReferences>
  <we:properties>
    <we:property name="claude.fileId" value="&quot;5a6fa5bc-f2a3-4bea-aaec-0d9b8e45b1e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333</TotalTime>
  <Words>1100</Words>
  <Application>Microsoft Macintosh PowerPoint</Application>
  <PresentationFormat>On-screen Show (16:9)</PresentationFormat>
  <Paragraphs>184</Paragraphs>
  <Slides>10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XGBoost Long-Short Equity Strategy</dc:title>
  <dc:subject>PptxGenJS Presentation</dc:subject>
  <dc:creator>PptxGenJS</dc:creator>
  <cp:lastModifiedBy>Yuen Lok Tung</cp:lastModifiedBy>
  <cp:revision>23</cp:revision>
  <dcterms:created xsi:type="dcterms:W3CDTF">2026-05-28T02:26:28Z</dcterms:created>
  <dcterms:modified xsi:type="dcterms:W3CDTF">2026-05-28T16:51:58Z</dcterms:modified>
</cp:coreProperties>
</file>